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972" y="1278855"/>
            <a:ext cx="699007" cy="1348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55033" y="2881384"/>
            <a:ext cx="3584575" cy="1024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2224" y="1014488"/>
            <a:ext cx="6908165" cy="453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0544" y="1842516"/>
            <a:ext cx="9000617" cy="4546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972" y="1278855"/>
            <a:ext cx="699007" cy="13483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752062" y="1200434"/>
            <a:ext cx="1150620" cy="41783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8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Hewlett</a:t>
            </a:r>
            <a:r>
              <a:rPr dirty="0" sz="1250" spc="114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Packard Enterprise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8823" y="2552292"/>
            <a:ext cx="6811645" cy="70231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400"/>
              <a:t>Agentic</a:t>
            </a:r>
            <a:r>
              <a:rPr dirty="0" sz="4400" spc="-30"/>
              <a:t> </a:t>
            </a:r>
            <a:r>
              <a:rPr dirty="0" sz="4400"/>
              <a:t>Bug</a:t>
            </a:r>
            <a:r>
              <a:rPr dirty="0" sz="4400" spc="-50"/>
              <a:t> </a:t>
            </a:r>
            <a:r>
              <a:rPr dirty="0" sz="4400"/>
              <a:t>Triage &amp;</a:t>
            </a:r>
            <a:r>
              <a:rPr dirty="0" sz="4400" spc="-50"/>
              <a:t> </a:t>
            </a:r>
            <a:r>
              <a:rPr dirty="0" sz="4400" spc="-10"/>
              <a:t>Routing</a:t>
            </a:r>
            <a:endParaRPr sz="4400"/>
          </a:p>
        </p:txBody>
      </p:sp>
      <p:sp>
        <p:nvSpPr>
          <p:cNvPr id="5" name="object 5" descr=""/>
          <p:cNvSpPr txBox="1"/>
          <p:nvPr/>
        </p:nvSpPr>
        <p:spPr>
          <a:xfrm>
            <a:off x="628823" y="3375259"/>
            <a:ext cx="3423285" cy="7023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400" b="1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4400" spc="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1A1A1A"/>
                </a:solidFill>
                <a:latin typeface="Calibri"/>
                <a:cs typeface="Calibri"/>
              </a:rPr>
              <a:t>Mid</a:t>
            </a:r>
            <a:r>
              <a:rPr dirty="0" sz="4400" spc="4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4400" spc="-10" b="1">
                <a:solidFill>
                  <a:srgbClr val="1A1A1A"/>
                </a:solidFill>
                <a:latin typeface="Calibri"/>
                <a:cs typeface="Calibri"/>
              </a:rPr>
              <a:t>Review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27304" y="4273296"/>
            <a:ext cx="3758565" cy="58419"/>
            <a:chOff x="527304" y="4273296"/>
            <a:chExt cx="3758565" cy="58419"/>
          </a:xfrm>
        </p:grpSpPr>
        <p:sp>
          <p:nvSpPr>
            <p:cNvPr id="7" name="object 7" descr=""/>
            <p:cNvSpPr/>
            <p:nvPr/>
          </p:nvSpPr>
          <p:spPr>
            <a:xfrm>
              <a:off x="534924" y="4280916"/>
              <a:ext cx="3743325" cy="43180"/>
            </a:xfrm>
            <a:custGeom>
              <a:avLst/>
              <a:gdLst/>
              <a:ahLst/>
              <a:cxnLst/>
              <a:rect l="l" t="t" r="r" b="b"/>
              <a:pathLst>
                <a:path w="3743325" h="43179">
                  <a:moveTo>
                    <a:pt x="3742943" y="42672"/>
                  </a:moveTo>
                  <a:lnTo>
                    <a:pt x="0" y="42672"/>
                  </a:lnTo>
                  <a:lnTo>
                    <a:pt x="0" y="0"/>
                  </a:lnTo>
                  <a:lnTo>
                    <a:pt x="3742943" y="0"/>
                  </a:lnTo>
                  <a:lnTo>
                    <a:pt x="3742943" y="42672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34924" y="4280916"/>
              <a:ext cx="3743325" cy="43180"/>
            </a:xfrm>
            <a:custGeom>
              <a:avLst/>
              <a:gdLst/>
              <a:ahLst/>
              <a:cxnLst/>
              <a:rect l="l" t="t" r="r" b="b"/>
              <a:pathLst>
                <a:path w="3743325" h="43179">
                  <a:moveTo>
                    <a:pt x="0" y="0"/>
                  </a:moveTo>
                  <a:lnTo>
                    <a:pt x="3742943" y="0"/>
                  </a:lnTo>
                  <a:lnTo>
                    <a:pt x="3742943" y="42672"/>
                  </a:lnTo>
                  <a:lnTo>
                    <a:pt x="0" y="42672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28925" y="4515110"/>
            <a:ext cx="379539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i="1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r>
              <a:rPr dirty="0" sz="1600" spc="65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r>
              <a:rPr dirty="0" sz="1600" spc="85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595959"/>
                </a:solidFill>
                <a:latin typeface="Calibri"/>
                <a:cs typeface="Calibri"/>
              </a:rPr>
              <a:t>&amp;</a:t>
            </a:r>
            <a:r>
              <a:rPr dirty="0" sz="1600" spc="4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595959"/>
                </a:solidFill>
                <a:latin typeface="Calibri"/>
                <a:cs typeface="Calibri"/>
              </a:rPr>
              <a:t>Study</a:t>
            </a:r>
            <a:r>
              <a:rPr dirty="0" sz="1600" spc="85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595959"/>
                </a:solidFill>
                <a:latin typeface="Calibri"/>
                <a:cs typeface="Calibri"/>
              </a:rPr>
              <a:t>Phase</a:t>
            </a:r>
            <a:r>
              <a:rPr dirty="0" sz="1600" spc="8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595959"/>
                </a:solidFill>
                <a:latin typeface="Calibri"/>
                <a:cs typeface="Calibri"/>
              </a:rPr>
              <a:t>Learnings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3608" y="6284321"/>
            <a:ext cx="776429" cy="14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2224" y="1014488"/>
            <a:ext cx="5144770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Bug</a:t>
            </a:r>
            <a:r>
              <a:rPr dirty="0" spc="-70"/>
              <a:t> </a:t>
            </a:r>
            <a:r>
              <a:rPr dirty="0" spc="-10"/>
              <a:t>Triaging</a:t>
            </a:r>
            <a:r>
              <a:rPr dirty="0" spc="-35"/>
              <a:t> </a:t>
            </a:r>
            <a:r>
              <a:rPr dirty="0"/>
              <a:t>—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Problem</a:t>
            </a:r>
            <a:r>
              <a:rPr dirty="0" spc="-60"/>
              <a:t> </a:t>
            </a:r>
            <a:r>
              <a:rPr dirty="0" spc="-10"/>
              <a:t>Today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27304" y="1600200"/>
            <a:ext cx="9638030" cy="38100"/>
            <a:chOff x="527304" y="1600200"/>
            <a:chExt cx="9638030" cy="38100"/>
          </a:xfrm>
        </p:grpSpPr>
        <p:sp>
          <p:nvSpPr>
            <p:cNvPr id="4" name="object 4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9622536" y="22859"/>
                  </a:moveTo>
                  <a:lnTo>
                    <a:pt x="0" y="22859"/>
                  </a:lnTo>
                  <a:lnTo>
                    <a:pt x="0" y="0"/>
                  </a:lnTo>
                  <a:lnTo>
                    <a:pt x="9622536" y="0"/>
                  </a:lnTo>
                  <a:lnTo>
                    <a:pt x="9622536" y="22859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0" y="0"/>
                  </a:moveTo>
                  <a:lnTo>
                    <a:pt x="9622536" y="0"/>
                  </a:lnTo>
                  <a:lnTo>
                    <a:pt x="9622536" y="22859"/>
                  </a:lnTo>
                  <a:lnTo>
                    <a:pt x="0" y="2285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3608" y="6284321"/>
            <a:ext cx="776429" cy="14176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86280" y="1800875"/>
            <a:ext cx="1746885" cy="2578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b="1">
                <a:solidFill>
                  <a:srgbClr val="01A882"/>
                </a:solidFill>
                <a:latin typeface="Calibri"/>
                <a:cs typeface="Calibri"/>
              </a:rPr>
              <a:t>What</a:t>
            </a:r>
            <a:r>
              <a:rPr dirty="0" sz="1500" spc="1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1A882"/>
                </a:solidFill>
                <a:latin typeface="Calibri"/>
                <a:cs typeface="Calibri"/>
              </a:rPr>
              <a:t>is</a:t>
            </a:r>
            <a:r>
              <a:rPr dirty="0" sz="1500" spc="2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1A882"/>
                </a:solidFill>
                <a:latin typeface="Calibri"/>
                <a:cs typeface="Calibri"/>
              </a:rPr>
              <a:t>Bug</a:t>
            </a:r>
            <a:r>
              <a:rPr dirty="0" sz="1500" spc="40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1A882"/>
                </a:solidFill>
                <a:latin typeface="Calibri"/>
                <a:cs typeface="Calibri"/>
              </a:rPr>
              <a:t>Triaging?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8886" y="2573563"/>
            <a:ext cx="110489" cy="2305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50">
                <a:solidFill>
                  <a:srgbClr val="1A1A1A"/>
                </a:solidFill>
                <a:latin typeface="Calibri"/>
                <a:cs typeface="Calibri"/>
              </a:rPr>
              <a:t>•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8886" y="3058211"/>
            <a:ext cx="110489" cy="2305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50">
                <a:solidFill>
                  <a:srgbClr val="1A1A1A"/>
                </a:solidFill>
                <a:latin typeface="Calibri"/>
                <a:cs typeface="Calibri"/>
              </a:rPr>
              <a:t>•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8886" y="2088915"/>
            <a:ext cx="4278630" cy="1403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3384" marR="33655" indent="-401320">
              <a:lnSpc>
                <a:spcPct val="100000"/>
              </a:lnSpc>
              <a:spcBef>
                <a:spcPts val="95"/>
              </a:spcBef>
              <a:buChar char="•"/>
              <a:tabLst>
                <a:tab pos="413384" algn="l"/>
              </a:tabLst>
            </a:pP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Reading</a:t>
            </a:r>
            <a:r>
              <a:rPr dirty="0" sz="135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bug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report</a:t>
            </a:r>
            <a:r>
              <a:rPr dirty="0" sz="13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deciding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severity,</a:t>
            </a:r>
            <a:r>
              <a:rPr dirty="0"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ownership,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dirty="0" sz="1350" spc="-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destination</a:t>
            </a:r>
            <a:r>
              <a:rPr dirty="0" sz="1350" spc="-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system</a:t>
            </a:r>
            <a:endParaRPr sz="1350">
              <a:latin typeface="Calibri"/>
              <a:cs typeface="Calibri"/>
            </a:endParaRPr>
          </a:p>
          <a:p>
            <a:pPr marL="413384" marR="40640">
              <a:lnSpc>
                <a:spcPts val="1610"/>
              </a:lnSpc>
              <a:spcBef>
                <a:spcPts val="635"/>
              </a:spcBef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Done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manually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today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by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HPE</a:t>
            </a:r>
            <a:r>
              <a:rPr dirty="0"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engineers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across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 multiple platforms</a:t>
            </a:r>
            <a:endParaRPr sz="1350">
              <a:latin typeface="Calibri"/>
              <a:cs typeface="Calibri"/>
            </a:endParaRPr>
          </a:p>
          <a:p>
            <a:pPr marL="413384" marR="5080">
              <a:lnSpc>
                <a:spcPts val="1610"/>
              </a:lnSpc>
              <a:spcBef>
                <a:spcPts val="595"/>
              </a:spcBef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Works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at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small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scale</a:t>
            </a:r>
            <a:r>
              <a:rPr dirty="0" sz="135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breaks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completely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at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enterprise scale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391911" y="1834895"/>
            <a:ext cx="36830" cy="1565275"/>
            <a:chOff x="5391911" y="1834895"/>
            <a:chExt cx="36830" cy="1565275"/>
          </a:xfrm>
        </p:grpSpPr>
        <p:sp>
          <p:nvSpPr>
            <p:cNvPr id="12" name="object 12" descr=""/>
            <p:cNvSpPr/>
            <p:nvPr/>
          </p:nvSpPr>
          <p:spPr>
            <a:xfrm>
              <a:off x="5399531" y="1842515"/>
              <a:ext cx="21590" cy="1550035"/>
            </a:xfrm>
            <a:custGeom>
              <a:avLst/>
              <a:gdLst/>
              <a:ahLst/>
              <a:cxnLst/>
              <a:rect l="l" t="t" r="r" b="b"/>
              <a:pathLst>
                <a:path w="21589" h="1550035">
                  <a:moveTo>
                    <a:pt x="21335" y="1549908"/>
                  </a:moveTo>
                  <a:lnTo>
                    <a:pt x="0" y="1549908"/>
                  </a:lnTo>
                  <a:lnTo>
                    <a:pt x="0" y="0"/>
                  </a:lnTo>
                  <a:lnTo>
                    <a:pt x="21335" y="0"/>
                  </a:lnTo>
                  <a:lnTo>
                    <a:pt x="21335" y="1549908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399531" y="1842515"/>
              <a:ext cx="21590" cy="1550035"/>
            </a:xfrm>
            <a:custGeom>
              <a:avLst/>
              <a:gdLst/>
              <a:ahLst/>
              <a:cxnLst/>
              <a:rect l="l" t="t" r="r" b="b"/>
              <a:pathLst>
                <a:path w="21589" h="1550035">
                  <a:moveTo>
                    <a:pt x="0" y="0"/>
                  </a:moveTo>
                  <a:lnTo>
                    <a:pt x="21335" y="0"/>
                  </a:lnTo>
                  <a:lnTo>
                    <a:pt x="21335" y="1549908"/>
                  </a:lnTo>
                  <a:lnTo>
                    <a:pt x="0" y="1549908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561076" y="1842516"/>
            <a:ext cx="4490085" cy="1550035"/>
          </a:xfrm>
          <a:prstGeom prst="rect">
            <a:avLst/>
          </a:prstGeom>
          <a:solidFill>
            <a:srgbClr val="F9F9FB"/>
          </a:solidFill>
          <a:ln w="12192">
            <a:solidFill>
              <a:srgbClr val="E4E6EB"/>
            </a:solidFill>
          </a:ln>
        </p:spPr>
        <p:txBody>
          <a:bodyPr wrap="square" lIns="0" tIns="130810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030"/>
              </a:spcBef>
            </a:pPr>
            <a:r>
              <a:rPr dirty="0" sz="1250" b="1">
                <a:solidFill>
                  <a:srgbClr val="1D3A5E"/>
                </a:solidFill>
                <a:latin typeface="Calibri"/>
                <a:cs typeface="Calibri"/>
              </a:rPr>
              <a:t>Real</a:t>
            </a:r>
            <a:r>
              <a:rPr dirty="0" sz="1250" spc="70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D3A5E"/>
                </a:solidFill>
                <a:latin typeface="Calibri"/>
                <a:cs typeface="Calibri"/>
              </a:rPr>
              <a:t>Example</a:t>
            </a:r>
            <a:r>
              <a:rPr dirty="0" sz="1250" spc="80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D3A5E"/>
                </a:solidFill>
                <a:latin typeface="Calibri"/>
                <a:cs typeface="Calibri"/>
              </a:rPr>
              <a:t>at</a:t>
            </a:r>
            <a:r>
              <a:rPr dirty="0" sz="1250" spc="55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spc="-25" b="1">
                <a:solidFill>
                  <a:srgbClr val="1D3A5E"/>
                </a:solidFill>
                <a:latin typeface="Calibri"/>
                <a:cs typeface="Calibri"/>
              </a:rPr>
              <a:t>HPE</a:t>
            </a:r>
            <a:endParaRPr sz="1250">
              <a:latin typeface="Calibri"/>
              <a:cs typeface="Calibri"/>
            </a:endParaRPr>
          </a:p>
          <a:p>
            <a:pPr marL="266700" marR="294640">
              <a:lnSpc>
                <a:spcPct val="102499"/>
              </a:lnSpc>
              <a:spcBef>
                <a:spcPts val="1105"/>
              </a:spcBef>
            </a:pP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Customer</a:t>
            </a:r>
            <a:r>
              <a:rPr dirty="0" sz="1200" spc="5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reports:</a:t>
            </a:r>
            <a:r>
              <a:rPr dirty="0" sz="120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"I</a:t>
            </a:r>
            <a:r>
              <a:rPr dirty="0" sz="120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cannot</a:t>
            </a:r>
            <a:r>
              <a:rPr dirty="0" sz="12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create</a:t>
            </a:r>
            <a:r>
              <a:rPr dirty="0" sz="1200" spc="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a</a:t>
            </a:r>
            <a:r>
              <a:rPr dirty="0" sz="1200" spc="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VM</a:t>
            </a:r>
            <a:r>
              <a:rPr dirty="0" sz="12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in</a:t>
            </a:r>
            <a:r>
              <a:rPr dirty="0" sz="12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my</a:t>
            </a:r>
            <a:r>
              <a:rPr dirty="0" sz="1200" spc="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private</a:t>
            </a:r>
            <a:r>
              <a:rPr dirty="0" sz="12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Calibri"/>
                <a:cs typeface="Calibri"/>
              </a:rPr>
              <a:t>cloud."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Root</a:t>
            </a:r>
            <a:r>
              <a:rPr dirty="0" sz="1200" spc="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cause</a:t>
            </a:r>
            <a:r>
              <a:rPr dirty="0" sz="1200" spc="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could</a:t>
            </a:r>
            <a:r>
              <a:rPr dirty="0" sz="1200" spc="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be</a:t>
            </a:r>
            <a:r>
              <a:rPr dirty="0" sz="12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storage,</a:t>
            </a:r>
            <a:r>
              <a:rPr dirty="0" sz="120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compute,</a:t>
            </a:r>
            <a:r>
              <a:rPr dirty="0" sz="1200" spc="5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networking</a:t>
            </a:r>
            <a:r>
              <a:rPr dirty="0" sz="12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200" spc="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or</a:t>
            </a:r>
            <a:r>
              <a:rPr dirty="0" sz="1200" spc="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A1A1A"/>
                </a:solidFill>
                <a:latin typeface="Calibri"/>
                <a:cs typeface="Calibri"/>
              </a:rPr>
              <a:t>all </a:t>
            </a:r>
            <a:r>
              <a:rPr dirty="0" sz="1200" spc="-10">
                <a:solidFill>
                  <a:srgbClr val="1A1A1A"/>
                </a:solidFill>
                <a:latin typeface="Calibri"/>
                <a:cs typeface="Calibri"/>
              </a:rPr>
              <a:t>three.</a:t>
            </a:r>
            <a:endParaRPr sz="1200">
              <a:latin typeface="Calibri"/>
              <a:cs typeface="Calibri"/>
            </a:endParaRPr>
          </a:p>
          <a:p>
            <a:pPr marL="266700" marR="581660">
              <a:lnSpc>
                <a:spcPts val="1480"/>
              </a:lnSpc>
              <a:spcBef>
                <a:spcPts val="40"/>
              </a:spcBef>
            </a:pP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Today:</a:t>
            </a:r>
            <a:r>
              <a:rPr dirty="0" sz="120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r>
              <a:rPr dirty="0" sz="1200" spc="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engineers,</a:t>
            </a:r>
            <a:r>
              <a:rPr dirty="0" sz="12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r>
              <a:rPr dirty="0" sz="120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systems,</a:t>
            </a:r>
            <a:r>
              <a:rPr dirty="0" sz="1200" spc="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r>
              <a:rPr dirty="0" sz="12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tickets,</a:t>
            </a:r>
            <a:r>
              <a:rPr dirty="0" sz="1200" spc="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zero</a:t>
            </a:r>
            <a:r>
              <a:rPr dirty="0" sz="12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Calibri"/>
                <a:cs typeface="Calibri"/>
              </a:rPr>
              <a:t>connection.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Resolution</a:t>
            </a:r>
            <a:r>
              <a:rPr dirty="0" sz="1200" spc="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time:</a:t>
            </a:r>
            <a:r>
              <a:rPr dirty="0" sz="120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20–30</a:t>
            </a:r>
            <a:r>
              <a:rPr dirty="0" sz="1200" spc="6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minutes</a:t>
            </a:r>
            <a:r>
              <a:rPr dirty="0" sz="1200" spc="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1A"/>
                </a:solidFill>
                <a:latin typeface="Calibri"/>
                <a:cs typeface="Calibri"/>
              </a:rPr>
              <a:t>per</a:t>
            </a:r>
            <a:r>
              <a:rPr dirty="0" sz="120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A1A1A"/>
                </a:solidFill>
                <a:latin typeface="Calibri"/>
                <a:cs typeface="Calibri"/>
              </a:rPr>
              <a:t>bug.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22205" y="3529112"/>
            <a:ext cx="1809750" cy="2578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b="1">
                <a:solidFill>
                  <a:srgbClr val="01A882"/>
                </a:solidFill>
                <a:latin typeface="Calibri"/>
                <a:cs typeface="Calibri"/>
              </a:rPr>
              <a:t>The</a:t>
            </a:r>
            <a:r>
              <a:rPr dirty="0" sz="1500" spc="1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1A882"/>
                </a:solidFill>
                <a:latin typeface="Calibri"/>
                <a:cs typeface="Calibri"/>
              </a:rPr>
              <a:t>4</a:t>
            </a:r>
            <a:r>
              <a:rPr dirty="0" sz="1500" spc="30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1A882"/>
                </a:solidFill>
                <a:latin typeface="Calibri"/>
                <a:cs typeface="Calibri"/>
              </a:rPr>
              <a:t>Core</a:t>
            </a:r>
            <a:r>
              <a:rPr dirty="0" sz="1500" spc="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1A882"/>
                </a:solidFill>
                <a:latin typeface="Calibri"/>
                <a:cs typeface="Calibri"/>
              </a:rPr>
              <a:t>Pain</a:t>
            </a:r>
            <a:r>
              <a:rPr dirty="0" sz="1500" spc="1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1A882"/>
                </a:solidFill>
                <a:latin typeface="Calibri"/>
                <a:cs typeface="Calibri"/>
              </a:rPr>
              <a:t>Points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27304" y="3919728"/>
            <a:ext cx="4825365" cy="828040"/>
            <a:chOff x="527304" y="3919728"/>
            <a:chExt cx="4825365" cy="828040"/>
          </a:xfrm>
        </p:grpSpPr>
        <p:sp>
          <p:nvSpPr>
            <p:cNvPr id="17" name="object 17" descr=""/>
            <p:cNvSpPr/>
            <p:nvPr/>
          </p:nvSpPr>
          <p:spPr>
            <a:xfrm>
              <a:off x="534924" y="3927348"/>
              <a:ext cx="4811395" cy="812800"/>
            </a:xfrm>
            <a:custGeom>
              <a:avLst/>
              <a:gdLst/>
              <a:ahLst/>
              <a:cxnLst/>
              <a:rect l="l" t="t" r="r" b="b"/>
              <a:pathLst>
                <a:path w="4811395" h="812800">
                  <a:moveTo>
                    <a:pt x="0" y="0"/>
                  </a:moveTo>
                  <a:lnTo>
                    <a:pt x="4811268" y="0"/>
                  </a:lnTo>
                  <a:lnTo>
                    <a:pt x="4811268" y="812291"/>
                  </a:lnTo>
                  <a:lnTo>
                    <a:pt x="0" y="812291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34924" y="3927348"/>
              <a:ext cx="64135" cy="812800"/>
            </a:xfrm>
            <a:custGeom>
              <a:avLst/>
              <a:gdLst/>
              <a:ahLst/>
              <a:cxnLst/>
              <a:rect l="l" t="t" r="r" b="b"/>
              <a:pathLst>
                <a:path w="64134" h="812800">
                  <a:moveTo>
                    <a:pt x="64008" y="812291"/>
                  </a:moveTo>
                  <a:lnTo>
                    <a:pt x="0" y="812291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812291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34924" y="3927348"/>
              <a:ext cx="64135" cy="812800"/>
            </a:xfrm>
            <a:custGeom>
              <a:avLst/>
              <a:gdLst/>
              <a:ahLst/>
              <a:cxnLst/>
              <a:rect l="l" t="t" r="r" b="b"/>
              <a:pathLst>
                <a:path w="64134" h="812800">
                  <a:moveTo>
                    <a:pt x="0" y="0"/>
                  </a:moveTo>
                  <a:lnTo>
                    <a:pt x="64008" y="0"/>
                  </a:lnTo>
                  <a:lnTo>
                    <a:pt x="64008" y="812291"/>
                  </a:lnTo>
                  <a:lnTo>
                    <a:pt x="0" y="812291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606552" y="3944823"/>
            <a:ext cx="4733925" cy="72009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72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Scattered</a:t>
            </a:r>
            <a:r>
              <a:rPr dirty="0" sz="1250" spc="10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A1A1A"/>
                </a:solidFill>
                <a:latin typeface="Calibri"/>
                <a:cs typeface="Calibri"/>
              </a:rPr>
              <a:t>Data</a:t>
            </a:r>
            <a:endParaRPr sz="1250">
              <a:latin typeface="Calibri"/>
              <a:cs typeface="Calibri"/>
            </a:endParaRPr>
          </a:p>
          <a:p>
            <a:pPr marL="120014" marR="293370">
              <a:lnSpc>
                <a:spcPct val="101699"/>
              </a:lnSpc>
              <a:spcBef>
                <a:spcPts val="530"/>
              </a:spcBef>
            </a:pP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Engineers</a:t>
            </a:r>
            <a:r>
              <a:rPr dirty="0" sz="115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open</a:t>
            </a:r>
            <a:r>
              <a:rPr dirty="0" sz="1150" spc="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JIRA,</a:t>
            </a:r>
            <a:r>
              <a:rPr dirty="0" sz="115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Bugzilla,</a:t>
            </a:r>
            <a:r>
              <a:rPr dirty="0" sz="1150" spc="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GitHub</a:t>
            </a:r>
            <a:r>
              <a:rPr dirty="0" sz="115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separately</a:t>
            </a:r>
            <a:r>
              <a:rPr dirty="0" sz="1150" spc="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dirty="0" sz="115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dirty="0" sz="115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understand</a:t>
            </a:r>
            <a:r>
              <a:rPr dirty="0" sz="1150" spc="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595959"/>
                </a:solidFill>
                <a:latin typeface="Calibri"/>
                <a:cs typeface="Calibri"/>
              </a:rPr>
              <a:t>one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bug.</a:t>
            </a:r>
            <a:r>
              <a:rPr dirty="0" sz="115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No</a:t>
            </a:r>
            <a:r>
              <a:rPr dirty="0" sz="115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single</a:t>
            </a:r>
            <a:r>
              <a:rPr dirty="0" sz="115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view</a:t>
            </a:r>
            <a:r>
              <a:rPr dirty="0" sz="115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exists.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606796" y="3919728"/>
            <a:ext cx="4825365" cy="828040"/>
            <a:chOff x="5606796" y="3919728"/>
            <a:chExt cx="4825365" cy="828040"/>
          </a:xfrm>
        </p:grpSpPr>
        <p:sp>
          <p:nvSpPr>
            <p:cNvPr id="22" name="object 22" descr=""/>
            <p:cNvSpPr/>
            <p:nvPr/>
          </p:nvSpPr>
          <p:spPr>
            <a:xfrm>
              <a:off x="5614416" y="3927348"/>
              <a:ext cx="4811395" cy="812800"/>
            </a:xfrm>
            <a:custGeom>
              <a:avLst/>
              <a:gdLst/>
              <a:ahLst/>
              <a:cxnLst/>
              <a:rect l="l" t="t" r="r" b="b"/>
              <a:pathLst>
                <a:path w="4811395" h="812800">
                  <a:moveTo>
                    <a:pt x="0" y="0"/>
                  </a:moveTo>
                  <a:lnTo>
                    <a:pt x="4811268" y="0"/>
                  </a:lnTo>
                  <a:lnTo>
                    <a:pt x="4811268" y="812291"/>
                  </a:lnTo>
                  <a:lnTo>
                    <a:pt x="0" y="812291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614416" y="3927348"/>
              <a:ext cx="64135" cy="812800"/>
            </a:xfrm>
            <a:custGeom>
              <a:avLst/>
              <a:gdLst/>
              <a:ahLst/>
              <a:cxnLst/>
              <a:rect l="l" t="t" r="r" b="b"/>
              <a:pathLst>
                <a:path w="64135" h="812800">
                  <a:moveTo>
                    <a:pt x="64007" y="812291"/>
                  </a:moveTo>
                  <a:lnTo>
                    <a:pt x="0" y="812291"/>
                  </a:lnTo>
                  <a:lnTo>
                    <a:pt x="0" y="0"/>
                  </a:lnTo>
                  <a:lnTo>
                    <a:pt x="64007" y="0"/>
                  </a:lnTo>
                  <a:lnTo>
                    <a:pt x="64007" y="812291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614416" y="3927348"/>
              <a:ext cx="64135" cy="812800"/>
            </a:xfrm>
            <a:custGeom>
              <a:avLst/>
              <a:gdLst/>
              <a:ahLst/>
              <a:cxnLst/>
              <a:rect l="l" t="t" r="r" b="b"/>
              <a:pathLst>
                <a:path w="64135" h="812800">
                  <a:moveTo>
                    <a:pt x="0" y="0"/>
                  </a:moveTo>
                  <a:lnTo>
                    <a:pt x="64007" y="0"/>
                  </a:lnTo>
                  <a:lnTo>
                    <a:pt x="64007" y="812291"/>
                  </a:lnTo>
                  <a:lnTo>
                    <a:pt x="0" y="812291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5686043" y="3944823"/>
            <a:ext cx="4733925" cy="72009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72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Manual</a:t>
            </a:r>
            <a:r>
              <a:rPr dirty="0" sz="1250" spc="12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Mis-</a:t>
            </a: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routing</a:t>
            </a:r>
            <a:endParaRPr sz="1250">
              <a:latin typeface="Calibri"/>
              <a:cs typeface="Calibri"/>
            </a:endParaRPr>
          </a:p>
          <a:p>
            <a:pPr marL="120014" marR="241935">
              <a:lnSpc>
                <a:spcPct val="101699"/>
              </a:lnSpc>
              <a:spcBef>
                <a:spcPts val="530"/>
              </a:spcBef>
            </a:pP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Wrong</a:t>
            </a:r>
            <a:r>
              <a:rPr dirty="0" sz="115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team</a:t>
            </a:r>
            <a:r>
              <a:rPr dirty="0" sz="1150" spc="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gets</a:t>
            </a:r>
            <a:r>
              <a:rPr dirty="0" sz="115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assigned.</a:t>
            </a:r>
            <a:r>
              <a:rPr dirty="0" sz="1150" spc="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Days</a:t>
            </a:r>
            <a:r>
              <a:rPr dirty="0" sz="115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wasted</a:t>
            </a:r>
            <a:r>
              <a:rPr dirty="0" sz="115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before</a:t>
            </a:r>
            <a:r>
              <a:rPr dirty="0" sz="1150" spc="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re-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routing</a:t>
            </a:r>
            <a:r>
              <a:rPr dirty="0" sz="1150" spc="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dirty="0" sz="115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dirty="0" sz="115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correct owner.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27304" y="4860035"/>
            <a:ext cx="4825365" cy="829310"/>
            <a:chOff x="527304" y="4860035"/>
            <a:chExt cx="4825365" cy="829310"/>
          </a:xfrm>
        </p:grpSpPr>
        <p:sp>
          <p:nvSpPr>
            <p:cNvPr id="27" name="object 27" descr=""/>
            <p:cNvSpPr/>
            <p:nvPr/>
          </p:nvSpPr>
          <p:spPr>
            <a:xfrm>
              <a:off x="534924" y="4867655"/>
              <a:ext cx="4811395" cy="814069"/>
            </a:xfrm>
            <a:custGeom>
              <a:avLst/>
              <a:gdLst/>
              <a:ahLst/>
              <a:cxnLst/>
              <a:rect l="l" t="t" r="r" b="b"/>
              <a:pathLst>
                <a:path w="4811395" h="814070">
                  <a:moveTo>
                    <a:pt x="0" y="0"/>
                  </a:moveTo>
                  <a:lnTo>
                    <a:pt x="4811268" y="0"/>
                  </a:lnTo>
                  <a:lnTo>
                    <a:pt x="4811268" y="813815"/>
                  </a:lnTo>
                  <a:lnTo>
                    <a:pt x="0" y="813815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34924" y="4867655"/>
              <a:ext cx="64135" cy="814069"/>
            </a:xfrm>
            <a:custGeom>
              <a:avLst/>
              <a:gdLst/>
              <a:ahLst/>
              <a:cxnLst/>
              <a:rect l="l" t="t" r="r" b="b"/>
              <a:pathLst>
                <a:path w="64134" h="814070">
                  <a:moveTo>
                    <a:pt x="64008" y="813815"/>
                  </a:moveTo>
                  <a:lnTo>
                    <a:pt x="0" y="813815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813815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34924" y="4867655"/>
              <a:ext cx="64135" cy="814069"/>
            </a:xfrm>
            <a:custGeom>
              <a:avLst/>
              <a:gdLst/>
              <a:ahLst/>
              <a:cxnLst/>
              <a:rect l="l" t="t" r="r" b="b"/>
              <a:pathLst>
                <a:path w="64134" h="814070">
                  <a:moveTo>
                    <a:pt x="0" y="0"/>
                  </a:moveTo>
                  <a:lnTo>
                    <a:pt x="64008" y="0"/>
                  </a:lnTo>
                  <a:lnTo>
                    <a:pt x="64008" y="813815"/>
                  </a:lnTo>
                  <a:lnTo>
                    <a:pt x="0" y="813815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06552" y="4885047"/>
            <a:ext cx="4733925" cy="72009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72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Lost</a:t>
            </a:r>
            <a:r>
              <a:rPr dirty="0" sz="1250" spc="3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Lineage</a:t>
            </a:r>
            <a:endParaRPr sz="1250">
              <a:latin typeface="Calibri"/>
              <a:cs typeface="Calibri"/>
            </a:endParaRPr>
          </a:p>
          <a:p>
            <a:pPr marL="120014" marR="230504">
              <a:lnSpc>
                <a:spcPct val="101699"/>
              </a:lnSpc>
              <a:spcBef>
                <a:spcPts val="530"/>
              </a:spcBef>
            </a:pP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dirty="0" sz="1150" spc="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dirty="0" sz="115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bug</a:t>
            </a:r>
            <a:r>
              <a:rPr dirty="0" sz="115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dirty="0" sz="115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copied</a:t>
            </a:r>
            <a:r>
              <a:rPr dirty="0" sz="1150" spc="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across</a:t>
            </a:r>
            <a:r>
              <a:rPr dirty="0" sz="115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systems,</a:t>
            </a:r>
            <a:r>
              <a:rPr dirty="0" sz="1150" spc="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dirty="0" sz="115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connection</a:t>
            </a:r>
            <a:r>
              <a:rPr dirty="0" sz="1150" spc="5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lost. Teams</a:t>
            </a:r>
            <a:r>
              <a:rPr dirty="0" sz="1150" spc="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595959"/>
                </a:solidFill>
                <a:latin typeface="Calibri"/>
                <a:cs typeface="Calibri"/>
              </a:rPr>
              <a:t>work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dirty="0" sz="115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same</a:t>
            </a:r>
            <a:r>
              <a:rPr dirty="0" sz="1150" spc="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root</a:t>
            </a:r>
            <a:r>
              <a:rPr dirty="0" sz="115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cause</a:t>
            </a:r>
            <a:r>
              <a:rPr dirty="0" sz="1150" spc="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dirty="0" sz="115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isolation.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606796" y="4860035"/>
            <a:ext cx="4825365" cy="829310"/>
            <a:chOff x="5606796" y="4860035"/>
            <a:chExt cx="4825365" cy="829310"/>
          </a:xfrm>
        </p:grpSpPr>
        <p:sp>
          <p:nvSpPr>
            <p:cNvPr id="32" name="object 32" descr=""/>
            <p:cNvSpPr/>
            <p:nvPr/>
          </p:nvSpPr>
          <p:spPr>
            <a:xfrm>
              <a:off x="5614416" y="4867655"/>
              <a:ext cx="4811395" cy="814069"/>
            </a:xfrm>
            <a:custGeom>
              <a:avLst/>
              <a:gdLst/>
              <a:ahLst/>
              <a:cxnLst/>
              <a:rect l="l" t="t" r="r" b="b"/>
              <a:pathLst>
                <a:path w="4811395" h="814070">
                  <a:moveTo>
                    <a:pt x="0" y="0"/>
                  </a:moveTo>
                  <a:lnTo>
                    <a:pt x="4811268" y="0"/>
                  </a:lnTo>
                  <a:lnTo>
                    <a:pt x="4811268" y="813815"/>
                  </a:lnTo>
                  <a:lnTo>
                    <a:pt x="0" y="813815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614416" y="4867655"/>
              <a:ext cx="64135" cy="814069"/>
            </a:xfrm>
            <a:custGeom>
              <a:avLst/>
              <a:gdLst/>
              <a:ahLst/>
              <a:cxnLst/>
              <a:rect l="l" t="t" r="r" b="b"/>
              <a:pathLst>
                <a:path w="64135" h="814070">
                  <a:moveTo>
                    <a:pt x="64007" y="813815"/>
                  </a:moveTo>
                  <a:lnTo>
                    <a:pt x="0" y="813815"/>
                  </a:lnTo>
                  <a:lnTo>
                    <a:pt x="0" y="0"/>
                  </a:lnTo>
                  <a:lnTo>
                    <a:pt x="64007" y="0"/>
                  </a:lnTo>
                  <a:lnTo>
                    <a:pt x="64007" y="813815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614416" y="4867655"/>
              <a:ext cx="64135" cy="814069"/>
            </a:xfrm>
            <a:custGeom>
              <a:avLst/>
              <a:gdLst/>
              <a:ahLst/>
              <a:cxnLst/>
              <a:rect l="l" t="t" r="r" b="b"/>
              <a:pathLst>
                <a:path w="64135" h="814070">
                  <a:moveTo>
                    <a:pt x="0" y="0"/>
                  </a:moveTo>
                  <a:lnTo>
                    <a:pt x="64007" y="0"/>
                  </a:lnTo>
                  <a:lnTo>
                    <a:pt x="64007" y="813815"/>
                  </a:lnTo>
                  <a:lnTo>
                    <a:pt x="0" y="813815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5686043" y="4885047"/>
            <a:ext cx="4733925" cy="72009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72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No</a:t>
            </a:r>
            <a:r>
              <a:rPr dirty="0" sz="1250" spc="4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Unified</a:t>
            </a:r>
            <a:r>
              <a:rPr dirty="0" sz="1250" spc="5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A1A1A"/>
                </a:solidFill>
                <a:latin typeface="Calibri"/>
                <a:cs typeface="Calibri"/>
              </a:rPr>
              <a:t>View</a:t>
            </a:r>
            <a:endParaRPr sz="1250">
              <a:latin typeface="Calibri"/>
              <a:cs typeface="Calibri"/>
            </a:endParaRPr>
          </a:p>
          <a:p>
            <a:pPr marL="120014" marR="339090">
              <a:lnSpc>
                <a:spcPct val="101699"/>
              </a:lnSpc>
              <a:spcBef>
                <a:spcPts val="530"/>
              </a:spcBef>
            </a:pP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Customers</a:t>
            </a:r>
            <a:r>
              <a:rPr dirty="0" sz="1150" spc="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get</a:t>
            </a:r>
            <a:r>
              <a:rPr dirty="0" sz="115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fragmented,</a:t>
            </a:r>
            <a:r>
              <a:rPr dirty="0" sz="1150" spc="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inconsistent</a:t>
            </a:r>
            <a:r>
              <a:rPr dirty="0" sz="1150" spc="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updates.</a:t>
            </a:r>
            <a:r>
              <a:rPr dirty="0" sz="1150" spc="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Executives</a:t>
            </a:r>
            <a:r>
              <a:rPr dirty="0" sz="1150" spc="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have</a:t>
            </a:r>
            <a:r>
              <a:rPr dirty="0" sz="115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595959"/>
                </a:solidFill>
                <a:latin typeface="Calibri"/>
                <a:cs typeface="Calibri"/>
              </a:rPr>
              <a:t>zero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SLA</a:t>
            </a:r>
            <a:r>
              <a:rPr dirty="0" sz="115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visibility.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dirty="0" spc="-75"/>
              <a:t> </a:t>
            </a:r>
            <a:r>
              <a:rPr dirty="0" spc="-10"/>
              <a:t>Solution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27304" y="1600200"/>
            <a:ext cx="9638030" cy="38100"/>
            <a:chOff x="527304" y="1600200"/>
            <a:chExt cx="9638030" cy="38100"/>
          </a:xfrm>
        </p:grpSpPr>
        <p:sp>
          <p:nvSpPr>
            <p:cNvPr id="4" name="object 4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9622536" y="22859"/>
                  </a:moveTo>
                  <a:lnTo>
                    <a:pt x="0" y="22859"/>
                  </a:lnTo>
                  <a:lnTo>
                    <a:pt x="0" y="0"/>
                  </a:lnTo>
                  <a:lnTo>
                    <a:pt x="9622536" y="0"/>
                  </a:lnTo>
                  <a:lnTo>
                    <a:pt x="9622536" y="22859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0" y="0"/>
                  </a:moveTo>
                  <a:lnTo>
                    <a:pt x="9622536" y="0"/>
                  </a:lnTo>
                  <a:lnTo>
                    <a:pt x="9622536" y="22859"/>
                  </a:lnTo>
                  <a:lnTo>
                    <a:pt x="0" y="2285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3608" y="6284321"/>
            <a:ext cx="776429" cy="141760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527304" y="1813560"/>
            <a:ext cx="9636760" cy="657225"/>
            <a:chOff x="527304" y="1813560"/>
            <a:chExt cx="9636760" cy="657225"/>
          </a:xfrm>
        </p:grpSpPr>
        <p:sp>
          <p:nvSpPr>
            <p:cNvPr id="8" name="object 8" descr=""/>
            <p:cNvSpPr/>
            <p:nvPr/>
          </p:nvSpPr>
          <p:spPr>
            <a:xfrm>
              <a:off x="598932" y="1821180"/>
              <a:ext cx="9558655" cy="641985"/>
            </a:xfrm>
            <a:custGeom>
              <a:avLst/>
              <a:gdLst/>
              <a:ahLst/>
              <a:cxnLst/>
              <a:rect l="l" t="t" r="r" b="b"/>
              <a:pathLst>
                <a:path w="9558655" h="641985">
                  <a:moveTo>
                    <a:pt x="0" y="641604"/>
                  </a:moveTo>
                  <a:lnTo>
                    <a:pt x="9558528" y="641604"/>
                  </a:lnTo>
                  <a:lnTo>
                    <a:pt x="9558528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solidFill>
              <a:srgbClr val="E8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34924" y="1821180"/>
              <a:ext cx="9622790" cy="641985"/>
            </a:xfrm>
            <a:custGeom>
              <a:avLst/>
              <a:gdLst/>
              <a:ahLst/>
              <a:cxnLst/>
              <a:rect l="l" t="t" r="r" b="b"/>
              <a:pathLst>
                <a:path w="9622790" h="641985">
                  <a:moveTo>
                    <a:pt x="0" y="0"/>
                  </a:moveTo>
                  <a:lnTo>
                    <a:pt x="9622536" y="0"/>
                  </a:lnTo>
                  <a:lnTo>
                    <a:pt x="9622536" y="641604"/>
                  </a:lnTo>
                  <a:lnTo>
                    <a:pt x="0" y="64160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34924" y="1821180"/>
              <a:ext cx="64135" cy="641985"/>
            </a:xfrm>
            <a:custGeom>
              <a:avLst/>
              <a:gdLst/>
              <a:ahLst/>
              <a:cxnLst/>
              <a:rect l="l" t="t" r="r" b="b"/>
              <a:pathLst>
                <a:path w="64134" h="641985">
                  <a:moveTo>
                    <a:pt x="64008" y="641604"/>
                  </a:moveTo>
                  <a:lnTo>
                    <a:pt x="0" y="641604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641604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34924" y="1821180"/>
              <a:ext cx="64135" cy="641985"/>
            </a:xfrm>
            <a:custGeom>
              <a:avLst/>
              <a:gdLst/>
              <a:ahLst/>
              <a:cxnLst/>
              <a:rect l="l" t="t" r="r" b="b"/>
              <a:pathLst>
                <a:path w="64134" h="641985">
                  <a:moveTo>
                    <a:pt x="0" y="0"/>
                  </a:moveTo>
                  <a:lnTo>
                    <a:pt x="64008" y="0"/>
                  </a:lnTo>
                  <a:lnTo>
                    <a:pt x="64008" y="641604"/>
                  </a:lnTo>
                  <a:lnTo>
                    <a:pt x="0" y="641604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22205" y="1902973"/>
            <a:ext cx="9629775" cy="948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95"/>
              </a:spcBef>
            </a:pP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Engineer</a:t>
            </a:r>
            <a:r>
              <a:rPr dirty="0" sz="1350" spc="-2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enters</a:t>
            </a:r>
            <a:r>
              <a:rPr dirty="0" sz="1350" spc="-3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one</a:t>
            </a:r>
            <a:r>
              <a:rPr dirty="0" sz="1350" spc="-1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Bug</a:t>
            </a:r>
            <a:r>
              <a:rPr dirty="0" sz="1350" spc="-1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ID</a:t>
            </a:r>
            <a:r>
              <a:rPr dirty="0" sz="1350" spc="-2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→</a:t>
            </a:r>
            <a:r>
              <a:rPr dirty="0" sz="1350" spc="-3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AI</a:t>
            </a:r>
            <a:r>
              <a:rPr dirty="0" sz="1350" spc="-2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agents</a:t>
            </a:r>
            <a:r>
              <a:rPr dirty="0" sz="1350" spc="-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query</a:t>
            </a:r>
            <a:r>
              <a:rPr dirty="0" sz="1350" spc="-3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JIRA,</a:t>
            </a:r>
            <a:r>
              <a:rPr dirty="0" sz="1350" spc="-1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Bugzilla,</a:t>
            </a:r>
            <a:r>
              <a:rPr dirty="0" sz="1350" spc="-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GitHub</a:t>
            </a:r>
            <a:r>
              <a:rPr dirty="0" sz="1350" spc="-1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&amp;</a:t>
            </a:r>
            <a:r>
              <a:rPr dirty="0" sz="1350" spc="-2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Confluence</a:t>
            </a:r>
            <a:r>
              <a:rPr dirty="0" sz="1350" spc="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spc="-10" b="1" i="1">
                <a:solidFill>
                  <a:srgbClr val="0A5B3D"/>
                </a:solidFill>
                <a:latin typeface="Calibri"/>
                <a:cs typeface="Calibri"/>
              </a:rPr>
              <a:t>simultaneously</a:t>
            </a:r>
            <a:r>
              <a:rPr dirty="0" sz="1350" spc="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→</a:t>
            </a:r>
            <a:r>
              <a:rPr dirty="0" sz="1350" spc="-3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AI</a:t>
            </a:r>
            <a:r>
              <a:rPr dirty="0" sz="1350" spc="-2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spc="-10" b="1" i="1">
                <a:solidFill>
                  <a:srgbClr val="0A5B3D"/>
                </a:solidFill>
                <a:latin typeface="Calibri"/>
                <a:cs typeface="Calibri"/>
              </a:rPr>
              <a:t>correlates</a:t>
            </a:r>
            <a:r>
              <a:rPr dirty="0" sz="1350" spc="-2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spc="-10" b="1" i="1">
                <a:solidFill>
                  <a:srgbClr val="0A5B3D"/>
                </a:solidFill>
                <a:latin typeface="Calibri"/>
                <a:cs typeface="Calibri"/>
              </a:rPr>
              <a:t>everything</a:t>
            </a:r>
            <a:endParaRPr sz="1350">
              <a:latin typeface="Calibri"/>
              <a:cs typeface="Calibri"/>
            </a:endParaRPr>
          </a:p>
          <a:p>
            <a:pPr marL="353695">
              <a:lnSpc>
                <a:spcPct val="100000"/>
              </a:lnSpc>
            </a:pP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→</a:t>
            </a:r>
            <a:r>
              <a:rPr dirty="0" sz="1350" spc="-4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Unified</a:t>
            </a:r>
            <a:r>
              <a:rPr dirty="0" sz="1350" spc="-3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triage</a:t>
            </a:r>
            <a:r>
              <a:rPr dirty="0" sz="1350" spc="-1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view</a:t>
            </a:r>
            <a:r>
              <a:rPr dirty="0" sz="1350" spc="-4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in</a:t>
            </a:r>
            <a:r>
              <a:rPr dirty="0" sz="1350" spc="-3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6</a:t>
            </a:r>
            <a:r>
              <a:rPr dirty="0" sz="1350" spc="-3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seconds</a:t>
            </a:r>
            <a:r>
              <a:rPr dirty="0" sz="1350" spc="-1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—</a:t>
            </a:r>
            <a:r>
              <a:rPr dirty="0" sz="1350" spc="-3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data</a:t>
            </a:r>
            <a:r>
              <a:rPr dirty="0" sz="1350" spc="-2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never</a:t>
            </a:r>
            <a:r>
              <a:rPr dirty="0" sz="1350" spc="-4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leaves</a:t>
            </a:r>
            <a:r>
              <a:rPr dirty="0" sz="1350" spc="-40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b="1" i="1">
                <a:solidFill>
                  <a:srgbClr val="0A5B3D"/>
                </a:solidFill>
                <a:latin typeface="Calibri"/>
                <a:cs typeface="Calibri"/>
              </a:rPr>
              <a:t>original</a:t>
            </a:r>
            <a:r>
              <a:rPr dirty="0" sz="1350" spc="5" b="1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350" spc="-10" b="1" i="1">
                <a:solidFill>
                  <a:srgbClr val="0A5B3D"/>
                </a:solidFill>
                <a:latin typeface="Calibri"/>
                <a:cs typeface="Calibri"/>
              </a:rPr>
              <a:t>systems.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01A882"/>
                </a:solidFill>
                <a:latin typeface="Calibri"/>
                <a:cs typeface="Calibri"/>
              </a:rPr>
              <a:t>5</a:t>
            </a:r>
            <a:r>
              <a:rPr dirty="0" sz="1500" spc="-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1A882"/>
                </a:solidFill>
                <a:latin typeface="Calibri"/>
                <a:cs typeface="Calibri"/>
              </a:rPr>
              <a:t>System</a:t>
            </a:r>
            <a:r>
              <a:rPr dirty="0" sz="1500" spc="-20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1A882"/>
                </a:solidFill>
                <a:latin typeface="Calibri"/>
                <a:cs typeface="Calibri"/>
              </a:rPr>
              <a:t>Capabilities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18159" y="2924555"/>
            <a:ext cx="81280" cy="528955"/>
            <a:chOff x="518159" y="2924555"/>
            <a:chExt cx="81280" cy="528955"/>
          </a:xfrm>
        </p:grpSpPr>
        <p:sp>
          <p:nvSpPr>
            <p:cNvPr id="14" name="object 14" descr=""/>
            <p:cNvSpPr/>
            <p:nvPr/>
          </p:nvSpPr>
          <p:spPr>
            <a:xfrm>
              <a:off x="525779" y="2932175"/>
              <a:ext cx="66040" cy="513715"/>
            </a:xfrm>
            <a:custGeom>
              <a:avLst/>
              <a:gdLst/>
              <a:ahLst/>
              <a:cxnLst/>
              <a:rect l="l" t="t" r="r" b="b"/>
              <a:pathLst>
                <a:path w="66040" h="513714">
                  <a:moveTo>
                    <a:pt x="65532" y="513588"/>
                  </a:moveTo>
                  <a:lnTo>
                    <a:pt x="0" y="513588"/>
                  </a:lnTo>
                  <a:lnTo>
                    <a:pt x="0" y="0"/>
                  </a:lnTo>
                  <a:lnTo>
                    <a:pt x="65532" y="0"/>
                  </a:lnTo>
                  <a:lnTo>
                    <a:pt x="65532" y="513588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25779" y="2932175"/>
              <a:ext cx="66040" cy="513715"/>
            </a:xfrm>
            <a:custGeom>
              <a:avLst/>
              <a:gdLst/>
              <a:ahLst/>
              <a:cxnLst/>
              <a:rect l="l" t="t" r="r" b="b"/>
              <a:pathLst>
                <a:path w="66040" h="513714">
                  <a:moveTo>
                    <a:pt x="0" y="0"/>
                  </a:moveTo>
                  <a:lnTo>
                    <a:pt x="65532" y="0"/>
                  </a:lnTo>
                  <a:lnTo>
                    <a:pt x="65532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94943" y="2932176"/>
            <a:ext cx="9409430" cy="513715"/>
          </a:xfrm>
          <a:prstGeom prst="rect">
            <a:avLst/>
          </a:prstGeom>
          <a:ln w="12192">
            <a:solidFill>
              <a:srgbClr val="E4E6E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4295">
              <a:lnSpc>
                <a:spcPts val="1285"/>
              </a:lnSpc>
            </a:pP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1.</a:t>
            </a:r>
            <a:r>
              <a:rPr dirty="0" sz="1200" spc="5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Cross-System</a:t>
            </a:r>
            <a:r>
              <a:rPr dirty="0" sz="1200" spc="9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A1A1A"/>
                </a:solidFill>
                <a:latin typeface="Calibri"/>
                <a:cs typeface="Calibri"/>
              </a:rPr>
              <a:t>Intelligence</a:t>
            </a:r>
            <a:endParaRPr sz="120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1060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Finds related bugs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across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JIRA,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Bugzilla,</a:t>
            </a:r>
            <a:r>
              <a:rPr dirty="0" sz="11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GitHub</a:t>
            </a:r>
            <a:r>
              <a:rPr dirty="0" sz="11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&amp;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PRs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automatically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15112" y="3515867"/>
            <a:ext cx="79375" cy="528955"/>
            <a:chOff x="515112" y="3515867"/>
            <a:chExt cx="79375" cy="528955"/>
          </a:xfrm>
        </p:grpSpPr>
        <p:sp>
          <p:nvSpPr>
            <p:cNvPr id="18" name="object 18" descr=""/>
            <p:cNvSpPr/>
            <p:nvPr/>
          </p:nvSpPr>
          <p:spPr>
            <a:xfrm>
              <a:off x="522732" y="3523487"/>
              <a:ext cx="64135" cy="513715"/>
            </a:xfrm>
            <a:custGeom>
              <a:avLst/>
              <a:gdLst/>
              <a:ahLst/>
              <a:cxnLst/>
              <a:rect l="l" t="t" r="r" b="b"/>
              <a:pathLst>
                <a:path w="64134" h="513714">
                  <a:moveTo>
                    <a:pt x="64007" y="513587"/>
                  </a:moveTo>
                  <a:lnTo>
                    <a:pt x="0" y="513587"/>
                  </a:lnTo>
                  <a:lnTo>
                    <a:pt x="0" y="0"/>
                  </a:lnTo>
                  <a:lnTo>
                    <a:pt x="64007" y="0"/>
                  </a:lnTo>
                  <a:lnTo>
                    <a:pt x="64007" y="513587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22732" y="3523487"/>
              <a:ext cx="64135" cy="513715"/>
            </a:xfrm>
            <a:custGeom>
              <a:avLst/>
              <a:gdLst/>
              <a:ahLst/>
              <a:cxnLst/>
              <a:rect l="l" t="t" r="r" b="b"/>
              <a:pathLst>
                <a:path w="64134" h="513714">
                  <a:moveTo>
                    <a:pt x="0" y="0"/>
                  </a:moveTo>
                  <a:lnTo>
                    <a:pt x="64007" y="0"/>
                  </a:lnTo>
                  <a:lnTo>
                    <a:pt x="64007" y="513587"/>
                  </a:lnTo>
                  <a:lnTo>
                    <a:pt x="0" y="513587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694943" y="3523488"/>
            <a:ext cx="9409430" cy="536575"/>
          </a:xfrm>
          <a:prstGeom prst="rect">
            <a:avLst/>
          </a:prstGeom>
          <a:ln w="12192">
            <a:solidFill>
              <a:srgbClr val="E4E6EB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30"/>
              </a:spcBef>
            </a:pP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2.</a:t>
            </a:r>
            <a:r>
              <a:rPr dirty="0" sz="1200" spc="2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AI-Powered</a:t>
            </a:r>
            <a:r>
              <a:rPr dirty="0" sz="1200" spc="8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A1A1A"/>
                </a:solidFill>
                <a:latin typeface="Calibri"/>
                <a:cs typeface="Calibri"/>
              </a:rPr>
              <a:t>Triage</a:t>
            </a:r>
            <a:endParaRPr sz="120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1035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LLM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suggests</a:t>
            </a:r>
            <a:r>
              <a:rPr dirty="0" sz="1100" spc="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severity,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root cause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&amp;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actions</a:t>
            </a:r>
            <a:r>
              <a:rPr dirty="0" sz="11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confidence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score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25780" y="4090415"/>
            <a:ext cx="68580" cy="528955"/>
            <a:chOff x="525780" y="4090415"/>
            <a:chExt cx="68580" cy="528955"/>
          </a:xfrm>
        </p:grpSpPr>
        <p:sp>
          <p:nvSpPr>
            <p:cNvPr id="22" name="object 22" descr=""/>
            <p:cNvSpPr/>
            <p:nvPr/>
          </p:nvSpPr>
          <p:spPr>
            <a:xfrm>
              <a:off x="533400" y="4098035"/>
              <a:ext cx="53340" cy="513715"/>
            </a:xfrm>
            <a:custGeom>
              <a:avLst/>
              <a:gdLst/>
              <a:ahLst/>
              <a:cxnLst/>
              <a:rect l="l" t="t" r="r" b="b"/>
              <a:pathLst>
                <a:path w="53340" h="513714">
                  <a:moveTo>
                    <a:pt x="53339" y="513588"/>
                  </a:moveTo>
                  <a:lnTo>
                    <a:pt x="0" y="513588"/>
                  </a:lnTo>
                  <a:lnTo>
                    <a:pt x="0" y="0"/>
                  </a:lnTo>
                  <a:lnTo>
                    <a:pt x="53339" y="0"/>
                  </a:lnTo>
                  <a:lnTo>
                    <a:pt x="53339" y="513588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33400" y="4098035"/>
              <a:ext cx="53340" cy="513715"/>
            </a:xfrm>
            <a:custGeom>
              <a:avLst/>
              <a:gdLst/>
              <a:ahLst/>
              <a:cxnLst/>
              <a:rect l="l" t="t" r="r" b="b"/>
              <a:pathLst>
                <a:path w="53340" h="513714">
                  <a:moveTo>
                    <a:pt x="0" y="0"/>
                  </a:moveTo>
                  <a:lnTo>
                    <a:pt x="53339" y="0"/>
                  </a:lnTo>
                  <a:lnTo>
                    <a:pt x="53339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94943" y="4113276"/>
            <a:ext cx="9409430" cy="498475"/>
          </a:xfrm>
          <a:prstGeom prst="rect">
            <a:avLst/>
          </a:prstGeom>
          <a:ln w="12192">
            <a:solidFill>
              <a:srgbClr val="E4E6E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4295">
              <a:lnSpc>
                <a:spcPts val="1320"/>
              </a:lnSpc>
            </a:pP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3.</a:t>
            </a:r>
            <a:r>
              <a:rPr dirty="0" sz="1200" spc="2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Knowledge</a:t>
            </a:r>
            <a:r>
              <a:rPr dirty="0" sz="1200" spc="6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A1A1A"/>
                </a:solidFill>
                <a:latin typeface="Calibri"/>
                <a:cs typeface="Calibri"/>
              </a:rPr>
              <a:t>Enrichment</a:t>
            </a:r>
            <a:endParaRPr sz="120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1120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Auto-searches</a:t>
            </a:r>
            <a:r>
              <a:rPr dirty="0" sz="11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Confluence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KB articles</a:t>
            </a:r>
            <a:r>
              <a:rPr dirty="0" sz="11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&amp;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runbooks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—</a:t>
            </a:r>
            <a:r>
              <a:rPr dirty="0" sz="1100" spc="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no manual</a:t>
            </a:r>
            <a:r>
              <a:rPr dirty="0" sz="11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search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27304" y="4706111"/>
            <a:ext cx="79375" cy="528955"/>
            <a:chOff x="527304" y="4706111"/>
            <a:chExt cx="79375" cy="528955"/>
          </a:xfrm>
        </p:grpSpPr>
        <p:sp>
          <p:nvSpPr>
            <p:cNvPr id="26" name="object 26" descr=""/>
            <p:cNvSpPr/>
            <p:nvPr/>
          </p:nvSpPr>
          <p:spPr>
            <a:xfrm>
              <a:off x="534924" y="4713731"/>
              <a:ext cx="64135" cy="513715"/>
            </a:xfrm>
            <a:custGeom>
              <a:avLst/>
              <a:gdLst/>
              <a:ahLst/>
              <a:cxnLst/>
              <a:rect l="l" t="t" r="r" b="b"/>
              <a:pathLst>
                <a:path w="64134" h="513714">
                  <a:moveTo>
                    <a:pt x="64008" y="513587"/>
                  </a:moveTo>
                  <a:lnTo>
                    <a:pt x="0" y="513587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513587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34924" y="4713731"/>
              <a:ext cx="64135" cy="513715"/>
            </a:xfrm>
            <a:custGeom>
              <a:avLst/>
              <a:gdLst/>
              <a:ahLst/>
              <a:cxnLst/>
              <a:rect l="l" t="t" r="r" b="b"/>
              <a:pathLst>
                <a:path w="64134" h="513714">
                  <a:moveTo>
                    <a:pt x="0" y="0"/>
                  </a:moveTo>
                  <a:lnTo>
                    <a:pt x="64008" y="0"/>
                  </a:lnTo>
                  <a:lnTo>
                    <a:pt x="64008" y="513587"/>
                  </a:lnTo>
                  <a:lnTo>
                    <a:pt x="0" y="513587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94943" y="4713732"/>
            <a:ext cx="9409430" cy="518159"/>
          </a:xfrm>
          <a:prstGeom prst="rect">
            <a:avLst/>
          </a:prstGeom>
          <a:ln w="12192">
            <a:solidFill>
              <a:srgbClr val="E4E6EB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265"/>
              </a:spcBef>
            </a:pP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4.</a:t>
            </a:r>
            <a:r>
              <a:rPr dirty="0" sz="1200" spc="2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Similarity</a:t>
            </a:r>
            <a:r>
              <a:rPr dirty="0" sz="1200" spc="9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A1A1A"/>
                </a:solidFill>
                <a:latin typeface="Calibri"/>
                <a:cs typeface="Calibri"/>
              </a:rPr>
              <a:t>Scoring</a:t>
            </a:r>
            <a:endParaRPr sz="120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720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Every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related</a:t>
            </a:r>
            <a:r>
              <a:rPr dirty="0" sz="11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issue shown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%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match.</a:t>
            </a:r>
            <a:r>
              <a:rPr dirty="0" sz="11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95%+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excellent,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90%+</a:t>
            </a:r>
            <a:r>
              <a:rPr dirty="0" sz="110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Calibri"/>
                <a:cs typeface="Calibri"/>
              </a:rPr>
              <a:t>good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18159" y="5320283"/>
            <a:ext cx="81280" cy="528955"/>
            <a:chOff x="518159" y="5320283"/>
            <a:chExt cx="81280" cy="528955"/>
          </a:xfrm>
        </p:grpSpPr>
        <p:sp>
          <p:nvSpPr>
            <p:cNvPr id="30" name="object 30" descr=""/>
            <p:cNvSpPr/>
            <p:nvPr/>
          </p:nvSpPr>
          <p:spPr>
            <a:xfrm>
              <a:off x="525779" y="5327903"/>
              <a:ext cx="66040" cy="513715"/>
            </a:xfrm>
            <a:custGeom>
              <a:avLst/>
              <a:gdLst/>
              <a:ahLst/>
              <a:cxnLst/>
              <a:rect l="l" t="t" r="r" b="b"/>
              <a:pathLst>
                <a:path w="66040" h="513714">
                  <a:moveTo>
                    <a:pt x="65532" y="513588"/>
                  </a:moveTo>
                  <a:lnTo>
                    <a:pt x="0" y="513588"/>
                  </a:lnTo>
                  <a:lnTo>
                    <a:pt x="0" y="0"/>
                  </a:lnTo>
                  <a:lnTo>
                    <a:pt x="65532" y="0"/>
                  </a:lnTo>
                  <a:lnTo>
                    <a:pt x="65532" y="513588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25779" y="5327903"/>
              <a:ext cx="66040" cy="513715"/>
            </a:xfrm>
            <a:custGeom>
              <a:avLst/>
              <a:gdLst/>
              <a:ahLst/>
              <a:cxnLst/>
              <a:rect l="l" t="t" r="r" b="b"/>
              <a:pathLst>
                <a:path w="66040" h="513714">
                  <a:moveTo>
                    <a:pt x="0" y="0"/>
                  </a:moveTo>
                  <a:lnTo>
                    <a:pt x="65532" y="0"/>
                  </a:lnTo>
                  <a:lnTo>
                    <a:pt x="65532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94943" y="5327903"/>
            <a:ext cx="9409430" cy="471170"/>
          </a:xfrm>
          <a:prstGeom prst="rect">
            <a:avLst/>
          </a:prstGeom>
          <a:ln w="12192">
            <a:solidFill>
              <a:srgbClr val="E4E6E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4295">
              <a:lnSpc>
                <a:spcPts val="1405"/>
              </a:lnSpc>
            </a:pP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5.</a:t>
            </a:r>
            <a:r>
              <a:rPr dirty="0" sz="1200" spc="1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Zero</a:t>
            </a:r>
            <a:r>
              <a:rPr dirty="0" sz="1200" spc="4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A1A1A"/>
                </a:solidFill>
                <a:latin typeface="Calibri"/>
                <a:cs typeface="Calibri"/>
              </a:rPr>
              <a:t>Data</a:t>
            </a:r>
            <a:r>
              <a:rPr dirty="0" sz="1200" spc="2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A1A1A"/>
                </a:solidFill>
                <a:latin typeface="Calibri"/>
                <a:cs typeface="Calibri"/>
              </a:rPr>
              <a:t>Duplication</a:t>
            </a:r>
            <a:endParaRPr sz="120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480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All findings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link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originals.</a:t>
            </a:r>
            <a:r>
              <a:rPr dirty="0" sz="11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Nothing</a:t>
            </a:r>
            <a:r>
              <a:rPr dirty="0" sz="11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permanently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stored</a:t>
            </a:r>
            <a:r>
              <a:rPr dirty="0" sz="1100" spc="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our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High-</a:t>
            </a:r>
            <a:r>
              <a:rPr dirty="0"/>
              <a:t>Level</a:t>
            </a:r>
            <a:r>
              <a:rPr dirty="0" spc="-15"/>
              <a:t> </a:t>
            </a:r>
            <a:r>
              <a:rPr dirty="0"/>
              <a:t>Design</a:t>
            </a:r>
            <a:r>
              <a:rPr dirty="0" spc="-20"/>
              <a:t> </a:t>
            </a:r>
            <a:r>
              <a:rPr dirty="0"/>
              <a:t>—</a:t>
            </a:r>
            <a:r>
              <a:rPr dirty="0" spc="-15"/>
              <a:t> </a:t>
            </a:r>
            <a:r>
              <a:rPr dirty="0"/>
              <a:t>Final</a:t>
            </a:r>
            <a:r>
              <a:rPr dirty="0" spc="-45"/>
              <a:t> </a:t>
            </a:r>
            <a:r>
              <a:rPr dirty="0" spc="-10"/>
              <a:t>Architecture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27304" y="1600200"/>
            <a:ext cx="9638030" cy="38100"/>
            <a:chOff x="527304" y="1600200"/>
            <a:chExt cx="9638030" cy="38100"/>
          </a:xfrm>
        </p:grpSpPr>
        <p:sp>
          <p:nvSpPr>
            <p:cNvPr id="4" name="object 4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9622536" y="22859"/>
                  </a:moveTo>
                  <a:lnTo>
                    <a:pt x="0" y="22859"/>
                  </a:lnTo>
                  <a:lnTo>
                    <a:pt x="0" y="0"/>
                  </a:lnTo>
                  <a:lnTo>
                    <a:pt x="9622536" y="0"/>
                  </a:lnTo>
                  <a:lnTo>
                    <a:pt x="9622536" y="22859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0" y="0"/>
                  </a:moveTo>
                  <a:lnTo>
                    <a:pt x="9622536" y="0"/>
                  </a:lnTo>
                  <a:lnTo>
                    <a:pt x="9622536" y="22859"/>
                  </a:lnTo>
                  <a:lnTo>
                    <a:pt x="0" y="2285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4493" y="6284321"/>
            <a:ext cx="602783" cy="14176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674875" y="1842516"/>
            <a:ext cx="7967980" cy="4546600"/>
          </a:xfrm>
          <a:custGeom>
            <a:avLst/>
            <a:gdLst/>
            <a:ahLst/>
            <a:cxnLst/>
            <a:rect l="l" t="t" r="r" b="b"/>
            <a:pathLst>
              <a:path w="7967980" h="4546600">
                <a:moveTo>
                  <a:pt x="7967472" y="4546091"/>
                </a:moveTo>
                <a:lnTo>
                  <a:pt x="0" y="4546091"/>
                </a:lnTo>
                <a:lnTo>
                  <a:pt x="0" y="0"/>
                </a:lnTo>
                <a:lnTo>
                  <a:pt x="7967472" y="0"/>
                </a:lnTo>
                <a:lnTo>
                  <a:pt x="7967472" y="4546091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674875" y="1842516"/>
            <a:ext cx="7967980" cy="4546600"/>
          </a:xfrm>
          <a:prstGeom prst="rect">
            <a:avLst/>
          </a:prstGeom>
          <a:ln w="12192">
            <a:solidFill>
              <a:srgbClr val="E4E6E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850">
              <a:latin typeface="Times New Roman"/>
              <a:cs typeface="Times New Roman"/>
            </a:endParaRPr>
          </a:p>
          <a:p>
            <a:pPr marL="1781175">
              <a:lnSpc>
                <a:spcPct val="100000"/>
              </a:lnSpc>
            </a:pPr>
            <a:r>
              <a:rPr dirty="0" sz="1850" i="1">
                <a:solidFill>
                  <a:srgbClr val="595959"/>
                </a:solidFill>
                <a:latin typeface="Calibri"/>
                <a:cs typeface="Calibri"/>
              </a:rPr>
              <a:t>[Insert</a:t>
            </a:r>
            <a:r>
              <a:rPr dirty="0" sz="1850" spc="15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595959"/>
                </a:solidFill>
                <a:latin typeface="Calibri"/>
                <a:cs typeface="Calibri"/>
              </a:rPr>
              <a:t>HLD</a:t>
            </a:r>
            <a:r>
              <a:rPr dirty="0" sz="1850" spc="2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r>
              <a:rPr dirty="0" sz="1850" spc="1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595959"/>
                </a:solidFill>
                <a:latin typeface="Calibri"/>
                <a:cs typeface="Calibri"/>
              </a:rPr>
              <a:t>Diagram</a:t>
            </a:r>
            <a:r>
              <a:rPr dirty="0" sz="1850" spc="25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50" spc="-10" i="1">
                <a:solidFill>
                  <a:srgbClr val="595959"/>
                </a:solidFill>
                <a:latin typeface="Calibri"/>
                <a:cs typeface="Calibri"/>
              </a:rPr>
              <a:t>Here]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0159" y="1804416"/>
            <a:ext cx="8478011" cy="48844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Agent</a:t>
            </a:r>
            <a:r>
              <a:rPr dirty="0" spc="-50"/>
              <a:t> </a:t>
            </a:r>
            <a:r>
              <a:rPr dirty="0"/>
              <a:t>Pipeline</a:t>
            </a:r>
            <a:r>
              <a:rPr dirty="0" spc="-6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4</a:t>
            </a:r>
            <a:r>
              <a:rPr dirty="0" spc="-45"/>
              <a:t> </a:t>
            </a:r>
            <a:r>
              <a:rPr dirty="0"/>
              <a:t>Agents,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-50"/>
              <a:t> </a:t>
            </a:r>
            <a:r>
              <a:rPr dirty="0" spc="-10"/>
              <a:t>Phases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27304" y="1600200"/>
            <a:ext cx="9638030" cy="38100"/>
            <a:chOff x="527304" y="1600200"/>
            <a:chExt cx="9638030" cy="38100"/>
          </a:xfrm>
        </p:grpSpPr>
        <p:sp>
          <p:nvSpPr>
            <p:cNvPr id="4" name="object 4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9622536" y="22859"/>
                  </a:moveTo>
                  <a:lnTo>
                    <a:pt x="0" y="22859"/>
                  </a:lnTo>
                  <a:lnTo>
                    <a:pt x="0" y="0"/>
                  </a:lnTo>
                  <a:lnTo>
                    <a:pt x="9622536" y="0"/>
                  </a:lnTo>
                  <a:lnTo>
                    <a:pt x="9622536" y="22859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0" y="0"/>
                  </a:moveTo>
                  <a:lnTo>
                    <a:pt x="9622536" y="0"/>
                  </a:lnTo>
                  <a:lnTo>
                    <a:pt x="9622536" y="22859"/>
                  </a:lnTo>
                  <a:lnTo>
                    <a:pt x="0" y="2285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7264907" y="4203192"/>
            <a:ext cx="3220720" cy="2451100"/>
            <a:chOff x="7264907" y="4203192"/>
            <a:chExt cx="3220720" cy="245110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612" y="6511916"/>
              <a:ext cx="776429" cy="14229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7271003" y="4209288"/>
              <a:ext cx="3208020" cy="2255520"/>
            </a:xfrm>
            <a:custGeom>
              <a:avLst/>
              <a:gdLst/>
              <a:ahLst/>
              <a:cxnLst/>
              <a:rect l="l" t="t" r="r" b="b"/>
              <a:pathLst>
                <a:path w="3208020" h="2255520">
                  <a:moveTo>
                    <a:pt x="3208020" y="2255519"/>
                  </a:moveTo>
                  <a:lnTo>
                    <a:pt x="0" y="2255519"/>
                  </a:lnTo>
                  <a:lnTo>
                    <a:pt x="0" y="0"/>
                  </a:lnTo>
                  <a:lnTo>
                    <a:pt x="3208020" y="0"/>
                  </a:lnTo>
                  <a:lnTo>
                    <a:pt x="3208020" y="2255519"/>
                  </a:lnTo>
                  <a:close/>
                </a:path>
              </a:pathLst>
            </a:custGeom>
            <a:solidFill>
              <a:srgbClr val="E8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71003" y="4209288"/>
              <a:ext cx="3208020" cy="2255520"/>
            </a:xfrm>
            <a:custGeom>
              <a:avLst/>
              <a:gdLst/>
              <a:ahLst/>
              <a:cxnLst/>
              <a:rect l="l" t="t" r="r" b="b"/>
              <a:pathLst>
                <a:path w="3208020" h="2255520">
                  <a:moveTo>
                    <a:pt x="0" y="0"/>
                  </a:moveTo>
                  <a:lnTo>
                    <a:pt x="3208020" y="0"/>
                  </a:lnTo>
                  <a:lnTo>
                    <a:pt x="3208020" y="2255519"/>
                  </a:lnTo>
                  <a:lnTo>
                    <a:pt x="0" y="225551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81671" y="4265676"/>
              <a:ext cx="64135" cy="2185670"/>
            </a:xfrm>
            <a:custGeom>
              <a:avLst/>
              <a:gdLst/>
              <a:ahLst/>
              <a:cxnLst/>
              <a:rect l="l" t="t" r="r" b="b"/>
              <a:pathLst>
                <a:path w="64134" h="2185670">
                  <a:moveTo>
                    <a:pt x="64008" y="2185416"/>
                  </a:moveTo>
                  <a:lnTo>
                    <a:pt x="0" y="2185416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2185416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81671" y="4265676"/>
              <a:ext cx="64135" cy="2185670"/>
            </a:xfrm>
            <a:custGeom>
              <a:avLst/>
              <a:gdLst/>
              <a:ahLst/>
              <a:cxnLst/>
              <a:rect l="l" t="t" r="r" b="b"/>
              <a:pathLst>
                <a:path w="64134" h="2185670">
                  <a:moveTo>
                    <a:pt x="0" y="0"/>
                  </a:moveTo>
                  <a:lnTo>
                    <a:pt x="64008" y="0"/>
                  </a:lnTo>
                  <a:lnTo>
                    <a:pt x="64008" y="2185416"/>
                  </a:lnTo>
                  <a:lnTo>
                    <a:pt x="0" y="2185416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00867" y="1854218"/>
            <a:ext cx="2566670" cy="221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65" b="1">
                <a:solidFill>
                  <a:srgbClr val="01A882"/>
                </a:solidFill>
                <a:latin typeface="Calibri"/>
                <a:cs typeface="Calibri"/>
              </a:rPr>
              <a:t>PHASE</a:t>
            </a:r>
            <a:r>
              <a:rPr dirty="0" sz="1250" spc="12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01A882"/>
                </a:solidFill>
                <a:latin typeface="Calibri"/>
                <a:cs typeface="Calibri"/>
              </a:rPr>
              <a:t>1</a:t>
            </a:r>
            <a:r>
              <a:rPr dirty="0" sz="1250" spc="14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01A882"/>
                </a:solidFill>
                <a:latin typeface="Calibri"/>
                <a:cs typeface="Calibri"/>
              </a:rPr>
              <a:t>—</a:t>
            </a:r>
            <a:r>
              <a:rPr dirty="0" sz="1250" spc="160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250" spc="50" b="1">
                <a:solidFill>
                  <a:srgbClr val="01A882"/>
                </a:solidFill>
                <a:latin typeface="Calibri"/>
                <a:cs typeface="Calibri"/>
              </a:rPr>
              <a:t>Runs</a:t>
            </a:r>
            <a:r>
              <a:rPr dirty="0" sz="1250" spc="15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250" spc="50" b="1">
                <a:solidFill>
                  <a:srgbClr val="01A882"/>
                </a:solidFill>
                <a:latin typeface="Calibri"/>
                <a:cs typeface="Calibri"/>
              </a:rPr>
              <a:t>First</a:t>
            </a:r>
            <a:r>
              <a:rPr dirty="0" sz="1250" spc="12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250" spc="50" b="1">
                <a:solidFill>
                  <a:srgbClr val="01A882"/>
                </a:solidFill>
                <a:latin typeface="Calibri"/>
                <a:cs typeface="Calibri"/>
              </a:rPr>
              <a:t>(sequential)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28827" y="2157983"/>
            <a:ext cx="4556760" cy="1668780"/>
            <a:chOff x="528827" y="2157983"/>
            <a:chExt cx="4556760" cy="1668780"/>
          </a:xfrm>
        </p:grpSpPr>
        <p:sp>
          <p:nvSpPr>
            <p:cNvPr id="14" name="object 14" descr=""/>
            <p:cNvSpPr/>
            <p:nvPr/>
          </p:nvSpPr>
          <p:spPr>
            <a:xfrm>
              <a:off x="534923" y="2164079"/>
              <a:ext cx="4544695" cy="1647825"/>
            </a:xfrm>
            <a:custGeom>
              <a:avLst/>
              <a:gdLst/>
              <a:ahLst/>
              <a:cxnLst/>
              <a:rect l="l" t="t" r="r" b="b"/>
              <a:pathLst>
                <a:path w="4544695" h="1647825">
                  <a:moveTo>
                    <a:pt x="0" y="0"/>
                  </a:moveTo>
                  <a:lnTo>
                    <a:pt x="4544568" y="0"/>
                  </a:lnTo>
                  <a:lnTo>
                    <a:pt x="4544568" y="1647444"/>
                  </a:lnTo>
                  <a:lnTo>
                    <a:pt x="0" y="164744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53212" y="2217420"/>
              <a:ext cx="53340" cy="1602105"/>
            </a:xfrm>
            <a:custGeom>
              <a:avLst/>
              <a:gdLst/>
              <a:ahLst/>
              <a:cxnLst/>
              <a:rect l="l" t="t" r="r" b="b"/>
              <a:pathLst>
                <a:path w="53340" h="1602104">
                  <a:moveTo>
                    <a:pt x="53339" y="1601723"/>
                  </a:moveTo>
                  <a:lnTo>
                    <a:pt x="0" y="1601723"/>
                  </a:lnTo>
                  <a:lnTo>
                    <a:pt x="0" y="0"/>
                  </a:lnTo>
                  <a:lnTo>
                    <a:pt x="53339" y="0"/>
                  </a:lnTo>
                  <a:lnTo>
                    <a:pt x="53339" y="1601723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53212" y="2217420"/>
              <a:ext cx="53340" cy="1602105"/>
            </a:xfrm>
            <a:custGeom>
              <a:avLst/>
              <a:gdLst/>
              <a:ahLst/>
              <a:cxnLst/>
              <a:rect l="l" t="t" r="r" b="b"/>
              <a:pathLst>
                <a:path w="53340" h="1602104">
                  <a:moveTo>
                    <a:pt x="0" y="0"/>
                  </a:moveTo>
                  <a:lnTo>
                    <a:pt x="53339" y="0"/>
                  </a:lnTo>
                  <a:lnTo>
                    <a:pt x="53339" y="1601723"/>
                  </a:lnTo>
                  <a:lnTo>
                    <a:pt x="0" y="1601723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63504" y="2207744"/>
            <a:ext cx="1144270" cy="221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1</a:t>
            </a:r>
            <a:r>
              <a:rPr dirty="0" sz="1250" spc="37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Context</a:t>
            </a:r>
            <a:r>
              <a:rPr dirty="0" sz="1250" spc="4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A1A1A"/>
                </a:solidFill>
                <a:latin typeface="Calibri"/>
                <a:cs typeface="Calibri"/>
              </a:rPr>
              <a:t>Agent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12272" y="2500408"/>
            <a:ext cx="3640454" cy="12122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0685" marR="674370" indent="-401320">
              <a:lnSpc>
                <a:spcPct val="100000"/>
              </a:lnSpc>
              <a:spcBef>
                <a:spcPts val="105"/>
              </a:spcBef>
              <a:buChar char="•"/>
              <a:tabLst>
                <a:tab pos="400685" algn="l"/>
              </a:tabLst>
            </a:pP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Fetches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full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bug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details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source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system (JIRA/Bugzilla/GitHub)</a:t>
            </a:r>
            <a:endParaRPr sz="10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85"/>
              </a:spcBef>
              <a:buChar char="•"/>
              <a:tabLst>
                <a:tab pos="400685" algn="l"/>
              </a:tabLst>
            </a:pP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Retrieves</a:t>
            </a:r>
            <a:r>
              <a:rPr dirty="0" sz="10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linked</a:t>
            </a:r>
            <a:r>
              <a:rPr dirty="0" sz="10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customer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case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notes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Customer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Portal</a:t>
            </a:r>
            <a:endParaRPr sz="1050">
              <a:latin typeface="Calibri"/>
              <a:cs typeface="Calibri"/>
            </a:endParaRPr>
          </a:p>
          <a:p>
            <a:pPr marL="400685" marR="249554" indent="-401320">
              <a:lnSpc>
                <a:spcPct val="100000"/>
              </a:lnSpc>
              <a:spcBef>
                <a:spcPts val="605"/>
              </a:spcBef>
              <a:buChar char="•"/>
              <a:tabLst>
                <a:tab pos="400685" algn="l"/>
              </a:tabLst>
            </a:pP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Extracts</a:t>
            </a:r>
            <a:r>
              <a:rPr dirty="0" sz="105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keywords</a:t>
            </a:r>
            <a:r>
              <a:rPr dirty="0" sz="10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these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drive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all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downstream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agent 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searches</a:t>
            </a:r>
            <a:endParaRPr sz="10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85"/>
              </a:spcBef>
              <a:buChar char="•"/>
              <a:tabLst>
                <a:tab pos="400685" algn="l"/>
              </a:tabLst>
            </a:pP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Must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run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alone.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Its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output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is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required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by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Agents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2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172455" y="2157983"/>
            <a:ext cx="5173980" cy="1484630"/>
            <a:chOff x="5172455" y="2157983"/>
            <a:chExt cx="5173980" cy="1484630"/>
          </a:xfrm>
        </p:grpSpPr>
        <p:sp>
          <p:nvSpPr>
            <p:cNvPr id="20" name="object 20" descr=""/>
            <p:cNvSpPr/>
            <p:nvPr/>
          </p:nvSpPr>
          <p:spPr>
            <a:xfrm>
              <a:off x="5178551" y="2164079"/>
              <a:ext cx="5161915" cy="1472565"/>
            </a:xfrm>
            <a:custGeom>
              <a:avLst/>
              <a:gdLst/>
              <a:ahLst/>
              <a:cxnLst/>
              <a:rect l="l" t="t" r="r" b="b"/>
              <a:pathLst>
                <a:path w="5161915" h="1472564">
                  <a:moveTo>
                    <a:pt x="5161787" y="1472184"/>
                  </a:moveTo>
                  <a:lnTo>
                    <a:pt x="0" y="1472184"/>
                  </a:lnTo>
                  <a:lnTo>
                    <a:pt x="0" y="0"/>
                  </a:lnTo>
                  <a:lnTo>
                    <a:pt x="5161787" y="0"/>
                  </a:lnTo>
                  <a:lnTo>
                    <a:pt x="5161787" y="1472184"/>
                  </a:lnTo>
                  <a:close/>
                </a:path>
              </a:pathLst>
            </a:custGeom>
            <a:solidFill>
              <a:srgbClr val="F9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178551" y="2164079"/>
              <a:ext cx="5161915" cy="1472565"/>
            </a:xfrm>
            <a:custGeom>
              <a:avLst/>
              <a:gdLst/>
              <a:ahLst/>
              <a:cxnLst/>
              <a:rect l="l" t="t" r="r" b="b"/>
              <a:pathLst>
                <a:path w="5161915" h="1472564">
                  <a:moveTo>
                    <a:pt x="0" y="0"/>
                  </a:moveTo>
                  <a:lnTo>
                    <a:pt x="5161787" y="0"/>
                  </a:lnTo>
                  <a:lnTo>
                    <a:pt x="5161787" y="1472184"/>
                  </a:lnTo>
                  <a:lnTo>
                    <a:pt x="0" y="147218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5239498" y="2255017"/>
            <a:ext cx="149987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solidFill>
                  <a:srgbClr val="1D3A5E"/>
                </a:solidFill>
                <a:latin typeface="Calibri"/>
                <a:cs typeface="Calibri"/>
              </a:rPr>
              <a:t>Why</a:t>
            </a:r>
            <a:r>
              <a:rPr dirty="0" sz="1150" spc="30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D3A5E"/>
                </a:solidFill>
                <a:latin typeface="Calibri"/>
                <a:cs typeface="Calibri"/>
              </a:rPr>
              <a:t>This</a:t>
            </a:r>
            <a:r>
              <a:rPr dirty="0" sz="1150" spc="20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D3A5E"/>
                </a:solidFill>
                <a:latin typeface="Calibri"/>
                <a:cs typeface="Calibri"/>
              </a:rPr>
              <a:t>Order</a:t>
            </a:r>
            <a:r>
              <a:rPr dirty="0" sz="1150" spc="-5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1D3A5E"/>
                </a:solidFill>
                <a:latin typeface="Calibri"/>
                <a:cs typeface="Calibri"/>
              </a:rPr>
              <a:t>Matters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346257" y="2480566"/>
            <a:ext cx="4390390" cy="11379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0685" marR="473709" indent="-401320">
              <a:lnSpc>
                <a:spcPct val="100000"/>
              </a:lnSpc>
              <a:spcBef>
                <a:spcPts val="105"/>
              </a:spcBef>
              <a:buChar char="•"/>
              <a:tabLst>
                <a:tab pos="400685" algn="l"/>
              </a:tabLst>
            </a:pP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Agents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2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&amp;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need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keywords</a:t>
            </a:r>
            <a:r>
              <a:rPr dirty="0" sz="10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Agent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1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dependency</a:t>
            </a:r>
            <a:r>
              <a:rPr dirty="0" sz="10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forces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sequential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first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step</a:t>
            </a:r>
            <a:endParaRPr sz="1050">
              <a:latin typeface="Calibri"/>
              <a:cs typeface="Calibri"/>
            </a:endParaRPr>
          </a:p>
          <a:p>
            <a:pPr marL="400685" marR="5080" indent="-401320">
              <a:lnSpc>
                <a:spcPct val="101000"/>
              </a:lnSpc>
              <a:spcBef>
                <a:spcPts val="575"/>
              </a:spcBef>
              <a:buChar char="•"/>
              <a:tabLst>
                <a:tab pos="400685" algn="l"/>
              </a:tabLst>
            </a:pP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Agents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2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&amp;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r>
              <a:rPr dirty="0" sz="10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are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independent</a:t>
            </a:r>
            <a:r>
              <a:rPr dirty="0" sz="10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running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them</a:t>
            </a:r>
            <a:r>
              <a:rPr dirty="0" sz="10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in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parallel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saves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44%</a:t>
            </a:r>
            <a:r>
              <a:rPr dirty="0" sz="1050" spc="-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time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vs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sequential</a:t>
            </a:r>
            <a:endParaRPr sz="1050">
              <a:latin typeface="Calibri"/>
              <a:cs typeface="Calibri"/>
            </a:endParaRPr>
          </a:p>
          <a:p>
            <a:pPr marL="400685" marR="146685" indent="-401320">
              <a:lnSpc>
                <a:spcPct val="100000"/>
              </a:lnSpc>
              <a:spcBef>
                <a:spcPts val="590"/>
              </a:spcBef>
              <a:buChar char="•"/>
              <a:tabLst>
                <a:tab pos="400685" algn="l"/>
              </a:tabLst>
            </a:pP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Agent 4</a:t>
            </a:r>
            <a:r>
              <a:rPr dirty="0" sz="10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cannot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start</a:t>
            </a:r>
            <a:r>
              <a:rPr dirty="0" sz="10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until</a:t>
            </a:r>
            <a:r>
              <a:rPr dirty="0" sz="10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Agents 1,</a:t>
            </a:r>
            <a:r>
              <a:rPr dirty="0" sz="10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2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&amp;</a:t>
            </a:r>
            <a:r>
              <a:rPr dirty="0" sz="10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r>
              <a:rPr dirty="0" sz="10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complete</a:t>
            </a:r>
            <a:r>
              <a:rPr dirty="0" sz="1050" spc="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0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it</a:t>
            </a:r>
            <a:r>
              <a:rPr dirty="0" sz="10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needs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all 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their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data</a:t>
            </a:r>
            <a:r>
              <a:rPr dirty="0" sz="10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build</a:t>
            </a:r>
            <a:r>
              <a:rPr dirty="0" sz="105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1A"/>
                </a:solidFill>
                <a:latin typeface="Calibri"/>
                <a:cs typeface="Calibri"/>
              </a:rPr>
              <a:t>LLM</a:t>
            </a:r>
            <a:r>
              <a:rPr dirty="0" sz="10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prompt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22206" y="3946628"/>
            <a:ext cx="3189605" cy="221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65" b="1">
                <a:solidFill>
                  <a:srgbClr val="1D3A5E"/>
                </a:solidFill>
                <a:latin typeface="Calibri"/>
                <a:cs typeface="Calibri"/>
              </a:rPr>
              <a:t>PHASE</a:t>
            </a:r>
            <a:r>
              <a:rPr dirty="0" sz="1250" spc="135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D3A5E"/>
                </a:solidFill>
                <a:latin typeface="Calibri"/>
                <a:cs typeface="Calibri"/>
              </a:rPr>
              <a:t>2</a:t>
            </a:r>
            <a:r>
              <a:rPr dirty="0" sz="1250" spc="150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D3A5E"/>
                </a:solidFill>
                <a:latin typeface="Calibri"/>
                <a:cs typeface="Calibri"/>
              </a:rPr>
              <a:t>—</a:t>
            </a:r>
            <a:r>
              <a:rPr dirty="0" sz="1250" spc="165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spc="50" b="1">
                <a:solidFill>
                  <a:srgbClr val="1D3A5E"/>
                </a:solidFill>
                <a:latin typeface="Calibri"/>
                <a:cs typeface="Calibri"/>
              </a:rPr>
              <a:t>Runs</a:t>
            </a:r>
            <a:r>
              <a:rPr dirty="0" sz="1250" spc="160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D3A5E"/>
                </a:solidFill>
                <a:latin typeface="Calibri"/>
                <a:cs typeface="Calibri"/>
              </a:rPr>
              <a:t>in</a:t>
            </a:r>
            <a:r>
              <a:rPr dirty="0" sz="1250" spc="150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spc="60" b="1">
                <a:solidFill>
                  <a:srgbClr val="1D3A5E"/>
                </a:solidFill>
                <a:latin typeface="Calibri"/>
                <a:cs typeface="Calibri"/>
              </a:rPr>
              <a:t>Parallel</a:t>
            </a:r>
            <a:r>
              <a:rPr dirty="0" sz="1250" spc="145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spc="55" b="1">
                <a:solidFill>
                  <a:srgbClr val="1D3A5E"/>
                </a:solidFill>
                <a:latin typeface="Calibri"/>
                <a:cs typeface="Calibri"/>
              </a:rPr>
              <a:t>(after</a:t>
            </a:r>
            <a:r>
              <a:rPr dirty="0" sz="1250" spc="120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spc="60" b="1">
                <a:solidFill>
                  <a:srgbClr val="1D3A5E"/>
                </a:solidFill>
                <a:latin typeface="Calibri"/>
                <a:cs typeface="Calibri"/>
              </a:rPr>
              <a:t>Phase</a:t>
            </a:r>
            <a:r>
              <a:rPr dirty="0" sz="1250" spc="130" b="1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 sz="1250" spc="-25" b="1">
                <a:solidFill>
                  <a:srgbClr val="1D3A5E"/>
                </a:solidFill>
                <a:latin typeface="Calibri"/>
                <a:cs typeface="Calibri"/>
              </a:rPr>
              <a:t>1)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09016" y="4203192"/>
            <a:ext cx="3218815" cy="2281555"/>
            <a:chOff x="509016" y="4203192"/>
            <a:chExt cx="3218815" cy="2281555"/>
          </a:xfrm>
        </p:grpSpPr>
        <p:sp>
          <p:nvSpPr>
            <p:cNvPr id="26" name="object 26" descr=""/>
            <p:cNvSpPr/>
            <p:nvPr/>
          </p:nvSpPr>
          <p:spPr>
            <a:xfrm>
              <a:off x="515112" y="4209288"/>
              <a:ext cx="3206750" cy="2269490"/>
            </a:xfrm>
            <a:custGeom>
              <a:avLst/>
              <a:gdLst/>
              <a:ahLst/>
              <a:cxnLst/>
              <a:rect l="l" t="t" r="r" b="b"/>
              <a:pathLst>
                <a:path w="3206750" h="2269490">
                  <a:moveTo>
                    <a:pt x="0" y="0"/>
                  </a:moveTo>
                  <a:lnTo>
                    <a:pt x="3206495" y="0"/>
                  </a:lnTo>
                  <a:lnTo>
                    <a:pt x="3206495" y="2269235"/>
                  </a:lnTo>
                  <a:lnTo>
                    <a:pt x="0" y="2269235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25780" y="4280916"/>
              <a:ext cx="64135" cy="2184400"/>
            </a:xfrm>
            <a:custGeom>
              <a:avLst/>
              <a:gdLst/>
              <a:ahLst/>
              <a:cxnLst/>
              <a:rect l="l" t="t" r="r" b="b"/>
              <a:pathLst>
                <a:path w="64134" h="2184400">
                  <a:moveTo>
                    <a:pt x="64007" y="2183891"/>
                  </a:moveTo>
                  <a:lnTo>
                    <a:pt x="0" y="2183891"/>
                  </a:lnTo>
                  <a:lnTo>
                    <a:pt x="0" y="0"/>
                  </a:lnTo>
                  <a:lnTo>
                    <a:pt x="64007" y="0"/>
                  </a:lnTo>
                  <a:lnTo>
                    <a:pt x="64007" y="2183891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25780" y="4280916"/>
              <a:ext cx="64135" cy="2184400"/>
            </a:xfrm>
            <a:custGeom>
              <a:avLst/>
              <a:gdLst/>
              <a:ahLst/>
              <a:cxnLst/>
              <a:rect l="l" t="t" r="r" b="b"/>
              <a:pathLst>
                <a:path w="64134" h="2184400">
                  <a:moveTo>
                    <a:pt x="0" y="0"/>
                  </a:moveTo>
                  <a:lnTo>
                    <a:pt x="64007" y="0"/>
                  </a:lnTo>
                  <a:lnTo>
                    <a:pt x="64007" y="2183891"/>
                  </a:lnTo>
                  <a:lnTo>
                    <a:pt x="0" y="2183891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1D3A5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692918" y="4245373"/>
            <a:ext cx="1929764" cy="221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2</a:t>
            </a:r>
            <a:r>
              <a:rPr dirty="0" sz="1250" spc="36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Cross-System</a:t>
            </a:r>
            <a:r>
              <a:rPr dirty="0" sz="1250" spc="6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Fetch</a:t>
            </a:r>
            <a:r>
              <a:rPr dirty="0" sz="1250" spc="7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A1A1A"/>
                </a:solidFill>
                <a:latin typeface="Calibri"/>
                <a:cs typeface="Calibri"/>
              </a:rPr>
              <a:t>Agent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99555" y="5002730"/>
            <a:ext cx="9906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solidFill>
                  <a:srgbClr val="1A1A1A"/>
                </a:solidFill>
                <a:latin typeface="Calibri"/>
                <a:cs typeface="Calibri"/>
              </a:rPr>
              <a:t>•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99555" y="5358409"/>
            <a:ext cx="99060" cy="53149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150" spc="-50">
                <a:solidFill>
                  <a:srgbClr val="1A1A1A"/>
                </a:solidFill>
                <a:latin typeface="Calibri"/>
                <a:cs typeface="Calibri"/>
              </a:rPr>
              <a:t>•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150" spc="-50">
                <a:solidFill>
                  <a:srgbClr val="1A1A1A"/>
                </a:solidFill>
                <a:latin typeface="Calibri"/>
                <a:cs typeface="Calibri"/>
              </a:rPr>
              <a:t>•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99555" y="4571447"/>
            <a:ext cx="2684145" cy="14966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13384" marR="296545" indent="-401320">
              <a:lnSpc>
                <a:spcPct val="101699"/>
              </a:lnSpc>
              <a:spcBef>
                <a:spcPts val="90"/>
              </a:spcBef>
              <a:buChar char="•"/>
              <a:tabLst>
                <a:tab pos="413384" algn="l"/>
              </a:tabLst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Searches</a:t>
            </a:r>
            <a:r>
              <a:rPr dirty="0" sz="115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Bugzilla</a:t>
            </a:r>
            <a:r>
              <a:rPr dirty="0" sz="115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for related</a:t>
            </a:r>
            <a:r>
              <a:rPr dirty="0" sz="115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A1A1A"/>
                </a:solidFill>
                <a:latin typeface="Calibri"/>
                <a:cs typeface="Calibri"/>
              </a:rPr>
              <a:t>bug </a:t>
            </a:r>
            <a:r>
              <a:rPr dirty="0" sz="1150" spc="-10">
                <a:solidFill>
                  <a:srgbClr val="1A1A1A"/>
                </a:solidFill>
                <a:latin typeface="Calibri"/>
                <a:cs typeface="Calibri"/>
              </a:rPr>
              <a:t>reports</a:t>
            </a:r>
            <a:endParaRPr sz="1150">
              <a:latin typeface="Calibri"/>
              <a:cs typeface="Calibri"/>
            </a:endParaRPr>
          </a:p>
          <a:p>
            <a:pPr marL="413384" marR="64135" indent="-635">
              <a:lnSpc>
                <a:spcPct val="101699"/>
              </a:lnSpc>
              <a:spcBef>
                <a:spcPts val="590"/>
              </a:spcBef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Searches</a:t>
            </a:r>
            <a:r>
              <a:rPr dirty="0" sz="115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GitHub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for</a:t>
            </a:r>
            <a:r>
              <a:rPr dirty="0" sz="11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related</a:t>
            </a:r>
            <a:r>
              <a:rPr dirty="0" sz="1150" spc="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issues</a:t>
            </a:r>
            <a:r>
              <a:rPr dirty="0" sz="11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1A1A1A"/>
                </a:solidFill>
                <a:latin typeface="Calibri"/>
                <a:cs typeface="Calibri"/>
              </a:rPr>
              <a:t>&amp; </a:t>
            </a:r>
            <a:r>
              <a:rPr dirty="0" sz="1150" spc="-25">
                <a:solidFill>
                  <a:srgbClr val="1A1A1A"/>
                </a:solidFill>
                <a:latin typeface="Calibri"/>
                <a:cs typeface="Calibri"/>
              </a:rPr>
              <a:t>PRs</a:t>
            </a:r>
            <a:endParaRPr sz="1150">
              <a:latin typeface="Calibri"/>
              <a:cs typeface="Calibri"/>
            </a:endParaRPr>
          </a:p>
          <a:p>
            <a:pPr marL="412750">
              <a:lnSpc>
                <a:spcPct val="100000"/>
              </a:lnSpc>
              <a:spcBef>
                <a:spcPts val="610"/>
              </a:spcBef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Similarity</a:t>
            </a:r>
            <a:r>
              <a:rPr dirty="0" sz="1150" spc="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scores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shown</a:t>
            </a:r>
            <a:r>
              <a:rPr dirty="0" sz="11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with</a:t>
            </a:r>
            <a:r>
              <a:rPr dirty="0" sz="1150" spc="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%</a:t>
            </a:r>
            <a:r>
              <a:rPr dirty="0" sz="11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Calibri"/>
                <a:cs typeface="Calibri"/>
              </a:rPr>
              <a:t>match</a:t>
            </a:r>
            <a:endParaRPr sz="1150">
              <a:latin typeface="Calibri"/>
              <a:cs typeface="Calibri"/>
            </a:endParaRPr>
          </a:p>
          <a:p>
            <a:pPr marL="413384" marR="354965" indent="-635">
              <a:lnSpc>
                <a:spcPct val="101699"/>
              </a:lnSpc>
              <a:spcBef>
                <a:spcPts val="590"/>
              </a:spcBef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All</a:t>
            </a:r>
            <a:r>
              <a:rPr dirty="0" sz="11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results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include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direct</a:t>
            </a:r>
            <a:r>
              <a:rPr dirty="0" sz="1150" spc="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links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A1A1A"/>
                </a:solidFill>
                <a:latin typeface="Calibri"/>
                <a:cs typeface="Calibri"/>
              </a:rPr>
              <a:t>to </a:t>
            </a:r>
            <a:r>
              <a:rPr dirty="0" sz="1150" spc="-10">
                <a:solidFill>
                  <a:srgbClr val="1A1A1A"/>
                </a:solidFill>
                <a:latin typeface="Calibri"/>
                <a:cs typeface="Calibri"/>
              </a:rPr>
              <a:t>originals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895344" y="4203192"/>
            <a:ext cx="3221990" cy="2269490"/>
            <a:chOff x="3895344" y="4203192"/>
            <a:chExt cx="3221990" cy="2269490"/>
          </a:xfrm>
        </p:grpSpPr>
        <p:sp>
          <p:nvSpPr>
            <p:cNvPr id="34" name="object 34" descr=""/>
            <p:cNvSpPr/>
            <p:nvPr/>
          </p:nvSpPr>
          <p:spPr>
            <a:xfrm>
              <a:off x="3902964" y="4209288"/>
              <a:ext cx="3208020" cy="2255520"/>
            </a:xfrm>
            <a:custGeom>
              <a:avLst/>
              <a:gdLst/>
              <a:ahLst/>
              <a:cxnLst/>
              <a:rect l="l" t="t" r="r" b="b"/>
              <a:pathLst>
                <a:path w="3208020" h="2255520">
                  <a:moveTo>
                    <a:pt x="0" y="0"/>
                  </a:moveTo>
                  <a:lnTo>
                    <a:pt x="3208019" y="0"/>
                  </a:lnTo>
                  <a:lnTo>
                    <a:pt x="3208019" y="2255519"/>
                  </a:lnTo>
                  <a:lnTo>
                    <a:pt x="0" y="2255519"/>
                  </a:lnTo>
                  <a:lnTo>
                    <a:pt x="0" y="0"/>
                  </a:lnTo>
                  <a:close/>
                </a:path>
              </a:pathLst>
            </a:custGeom>
            <a:ln w="12191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902964" y="4280916"/>
              <a:ext cx="64135" cy="2184400"/>
            </a:xfrm>
            <a:custGeom>
              <a:avLst/>
              <a:gdLst/>
              <a:ahLst/>
              <a:cxnLst/>
              <a:rect l="l" t="t" r="r" b="b"/>
              <a:pathLst>
                <a:path w="64135" h="2184400">
                  <a:moveTo>
                    <a:pt x="64008" y="2183891"/>
                  </a:moveTo>
                  <a:lnTo>
                    <a:pt x="0" y="2183891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2183891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902964" y="4280916"/>
              <a:ext cx="64135" cy="2184400"/>
            </a:xfrm>
            <a:custGeom>
              <a:avLst/>
              <a:gdLst/>
              <a:ahLst/>
              <a:cxnLst/>
              <a:rect l="l" t="t" r="r" b="b"/>
              <a:pathLst>
                <a:path w="64135" h="2184400">
                  <a:moveTo>
                    <a:pt x="0" y="0"/>
                  </a:moveTo>
                  <a:lnTo>
                    <a:pt x="64008" y="0"/>
                  </a:lnTo>
                  <a:lnTo>
                    <a:pt x="64008" y="2183891"/>
                  </a:lnTo>
                  <a:lnTo>
                    <a:pt x="0" y="2183891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1D3A5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4060966" y="4274277"/>
            <a:ext cx="1404620" cy="221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r>
              <a:rPr dirty="0" sz="1250" spc="37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Enrichment</a:t>
            </a:r>
            <a:r>
              <a:rPr dirty="0" sz="1250" spc="7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A1A1A"/>
                </a:solidFill>
                <a:latin typeface="Calibri"/>
                <a:cs typeface="Calibri"/>
              </a:rPr>
              <a:t>Agent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167602" y="5033181"/>
            <a:ext cx="9906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solidFill>
                  <a:srgbClr val="1A1A1A"/>
                </a:solidFill>
                <a:latin typeface="Calibri"/>
                <a:cs typeface="Calibri"/>
              </a:rPr>
              <a:t>•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167602" y="5464554"/>
            <a:ext cx="9906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solidFill>
                  <a:srgbClr val="1A1A1A"/>
                </a:solidFill>
                <a:latin typeface="Calibri"/>
                <a:cs typeface="Calibri"/>
              </a:rPr>
              <a:t>•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167602" y="5895837"/>
            <a:ext cx="9906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solidFill>
                  <a:srgbClr val="1A1A1A"/>
                </a:solidFill>
                <a:latin typeface="Calibri"/>
                <a:cs typeface="Calibri"/>
              </a:rPr>
              <a:t>•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167602" y="4601898"/>
            <a:ext cx="2680335" cy="1675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13384" marR="5080" indent="-401320">
              <a:lnSpc>
                <a:spcPct val="101800"/>
              </a:lnSpc>
              <a:spcBef>
                <a:spcPts val="90"/>
              </a:spcBef>
              <a:buChar char="•"/>
              <a:tabLst>
                <a:tab pos="413384" algn="l"/>
              </a:tabLst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Searches</a:t>
            </a:r>
            <a:r>
              <a:rPr dirty="0" sz="1150" spc="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Confluence</a:t>
            </a:r>
            <a:r>
              <a:rPr dirty="0" sz="115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via</a:t>
            </a:r>
            <a:r>
              <a:rPr dirty="0" sz="11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CQL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Calibri"/>
                <a:cs typeface="Calibri"/>
              </a:rPr>
              <a:t>read- only</a:t>
            </a:r>
            <a:endParaRPr sz="1150">
              <a:latin typeface="Calibri"/>
              <a:cs typeface="Calibri"/>
            </a:endParaRPr>
          </a:p>
          <a:p>
            <a:pPr marL="413384" marR="6985" indent="-635">
              <a:lnSpc>
                <a:spcPct val="101800"/>
              </a:lnSpc>
              <a:spcBef>
                <a:spcPts val="585"/>
              </a:spcBef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Returns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top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5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KB</a:t>
            </a:r>
            <a:r>
              <a:rPr dirty="0" sz="115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articles,</a:t>
            </a:r>
            <a:r>
              <a:rPr dirty="0" sz="115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runbooks</a:t>
            </a:r>
            <a:r>
              <a:rPr dirty="0" sz="11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1A1A1A"/>
                </a:solidFill>
                <a:latin typeface="Calibri"/>
                <a:cs typeface="Calibri"/>
              </a:rPr>
              <a:t>&amp;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past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incident</a:t>
            </a:r>
            <a:r>
              <a:rPr dirty="0" sz="1150" spc="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Calibri"/>
                <a:cs typeface="Calibri"/>
              </a:rPr>
              <a:t>reports</a:t>
            </a:r>
            <a:endParaRPr sz="1150">
              <a:latin typeface="Calibri"/>
              <a:cs typeface="Calibri"/>
            </a:endParaRPr>
          </a:p>
          <a:p>
            <a:pPr marL="413384" marR="622300" indent="-635">
              <a:lnSpc>
                <a:spcPct val="101699"/>
              </a:lnSpc>
              <a:spcBef>
                <a:spcPts val="590"/>
              </a:spcBef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Removes</a:t>
            </a:r>
            <a:r>
              <a:rPr dirty="0" sz="115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15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min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of</a:t>
            </a:r>
            <a:r>
              <a:rPr dirty="0" sz="11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Calibri"/>
                <a:cs typeface="Calibri"/>
              </a:rPr>
              <a:t>manual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Confluence</a:t>
            </a:r>
            <a:r>
              <a:rPr dirty="0" sz="115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Calibri"/>
                <a:cs typeface="Calibri"/>
              </a:rPr>
              <a:t>search</a:t>
            </a:r>
            <a:endParaRPr sz="1150">
              <a:latin typeface="Calibri"/>
              <a:cs typeface="Calibri"/>
            </a:endParaRPr>
          </a:p>
          <a:p>
            <a:pPr marL="413384" marR="119380" indent="-635">
              <a:lnSpc>
                <a:spcPct val="101699"/>
              </a:lnSpc>
              <a:spcBef>
                <a:spcPts val="585"/>
              </a:spcBef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Degrades</a:t>
            </a:r>
            <a:r>
              <a:rPr dirty="0" sz="115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gracefully</a:t>
            </a:r>
            <a:r>
              <a:rPr dirty="0" sz="115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if Confluence</a:t>
            </a:r>
            <a:r>
              <a:rPr dirty="0" sz="115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A1A1A"/>
                </a:solidFill>
                <a:latin typeface="Calibri"/>
                <a:cs typeface="Calibri"/>
              </a:rPr>
              <a:t>is </a:t>
            </a:r>
            <a:r>
              <a:rPr dirty="0" sz="1150" spc="-20">
                <a:solidFill>
                  <a:srgbClr val="1A1A1A"/>
                </a:solidFill>
                <a:latin typeface="Calibri"/>
                <a:cs typeface="Calibri"/>
              </a:rPr>
              <a:t>down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7431056" y="4289564"/>
            <a:ext cx="1429385" cy="221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4</a:t>
            </a:r>
            <a:r>
              <a:rPr dirty="0" sz="1250" spc="36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AI</a:t>
            </a:r>
            <a:r>
              <a:rPr dirty="0" sz="1250" spc="3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Synthesis</a:t>
            </a:r>
            <a:r>
              <a:rPr dirty="0" sz="1250" spc="4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A1A1A"/>
                </a:solidFill>
                <a:latin typeface="Calibri"/>
                <a:cs typeface="Calibri"/>
              </a:rPr>
              <a:t>Agent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7548350" y="4608034"/>
            <a:ext cx="2792730" cy="14966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0685" marR="179705" indent="-401320">
              <a:lnSpc>
                <a:spcPct val="101699"/>
              </a:lnSpc>
              <a:spcBef>
                <a:spcPts val="90"/>
              </a:spcBef>
              <a:buChar char="•"/>
              <a:tabLst>
                <a:tab pos="400685" algn="l"/>
              </a:tabLst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Runs</a:t>
            </a:r>
            <a:r>
              <a:rPr dirty="0" sz="11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after</a:t>
            </a:r>
            <a:r>
              <a:rPr dirty="0" sz="115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Agents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1,</a:t>
            </a:r>
            <a:r>
              <a:rPr dirty="0" sz="1150" spc="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2,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r>
              <a:rPr dirty="0" sz="115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1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needs</a:t>
            </a:r>
            <a:r>
              <a:rPr dirty="0" sz="115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A1A1A"/>
                </a:solidFill>
                <a:latin typeface="Calibri"/>
                <a:cs typeface="Calibri"/>
              </a:rPr>
              <a:t>all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their</a:t>
            </a:r>
            <a:r>
              <a:rPr dirty="0" sz="1150" spc="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Calibri"/>
                <a:cs typeface="Calibri"/>
              </a:rPr>
              <a:t>output</a:t>
            </a:r>
            <a:endParaRPr sz="1150">
              <a:latin typeface="Calibri"/>
              <a:cs typeface="Calibri"/>
            </a:endParaRPr>
          </a:p>
          <a:p>
            <a:pPr marL="400050" indent="-400050">
              <a:lnSpc>
                <a:spcPct val="100000"/>
              </a:lnSpc>
              <a:spcBef>
                <a:spcPts val="610"/>
              </a:spcBef>
              <a:buChar char="•"/>
              <a:tabLst>
                <a:tab pos="400050" algn="l"/>
              </a:tabLst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Combines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all</a:t>
            </a:r>
            <a:r>
              <a:rPr dirty="0" sz="11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data</a:t>
            </a:r>
            <a:r>
              <a:rPr dirty="0" sz="1150" spc="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into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one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LLM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Calibri"/>
                <a:cs typeface="Calibri"/>
              </a:rPr>
              <a:t>prompt</a:t>
            </a:r>
            <a:endParaRPr sz="1150">
              <a:latin typeface="Calibri"/>
              <a:cs typeface="Calibri"/>
            </a:endParaRPr>
          </a:p>
          <a:p>
            <a:pPr marL="400685" marR="48260" indent="-401320">
              <a:lnSpc>
                <a:spcPct val="101699"/>
              </a:lnSpc>
              <a:spcBef>
                <a:spcPts val="590"/>
              </a:spcBef>
              <a:buChar char="•"/>
              <a:tabLst>
                <a:tab pos="400685" algn="l"/>
              </a:tabLst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Claude/Gemini/Llama</a:t>
            </a:r>
            <a:r>
              <a:rPr dirty="0" sz="1150" spc="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returns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Calibri"/>
                <a:cs typeface="Calibri"/>
              </a:rPr>
              <a:t>severity,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root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cause,</a:t>
            </a:r>
            <a:r>
              <a:rPr dirty="0" sz="1150" spc="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recommended</a:t>
            </a:r>
            <a:r>
              <a:rPr dirty="0" sz="1150" spc="5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Calibri"/>
                <a:cs typeface="Calibri"/>
              </a:rPr>
              <a:t>actions</a:t>
            </a:r>
            <a:endParaRPr sz="1150">
              <a:latin typeface="Calibri"/>
              <a:cs typeface="Calibri"/>
            </a:endParaRPr>
          </a:p>
          <a:p>
            <a:pPr marL="400685" marR="48260" indent="-401320">
              <a:lnSpc>
                <a:spcPct val="101699"/>
              </a:lnSpc>
              <a:spcBef>
                <a:spcPts val="590"/>
              </a:spcBef>
              <a:buChar char="•"/>
              <a:tabLst>
                <a:tab pos="400685" algn="l"/>
              </a:tabLst>
            </a:pP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Labeled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as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suggestion</a:t>
            </a:r>
            <a:r>
              <a:rPr dirty="0" sz="1150" spc="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only</a:t>
            </a:r>
            <a:r>
              <a:rPr dirty="0" sz="11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150" spc="1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Calibri"/>
                <a:cs typeface="Calibri"/>
              </a:rPr>
              <a:t>engineer decides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Unified</a:t>
            </a:r>
            <a:r>
              <a:rPr dirty="0" spc="-45"/>
              <a:t> </a:t>
            </a:r>
            <a:r>
              <a:rPr dirty="0" spc="-20"/>
              <a:t>Triage</a:t>
            </a:r>
            <a:r>
              <a:rPr dirty="0" spc="-40"/>
              <a:t> </a:t>
            </a:r>
            <a:r>
              <a:rPr dirty="0"/>
              <a:t>View</a:t>
            </a:r>
            <a:r>
              <a:rPr dirty="0" spc="-10"/>
              <a:t> </a:t>
            </a:r>
            <a:r>
              <a:rPr dirty="0"/>
              <a:t>—</a:t>
            </a:r>
            <a:r>
              <a:rPr dirty="0" spc="-40"/>
              <a:t> </a:t>
            </a: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Engineer</a:t>
            </a:r>
            <a:r>
              <a:rPr dirty="0" spc="-40"/>
              <a:t> </a:t>
            </a:r>
            <a:r>
              <a:rPr dirty="0" spc="-20"/>
              <a:t>Sees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27304" y="1600200"/>
            <a:ext cx="9638030" cy="38100"/>
            <a:chOff x="527304" y="1600200"/>
            <a:chExt cx="9638030" cy="38100"/>
          </a:xfrm>
        </p:grpSpPr>
        <p:sp>
          <p:nvSpPr>
            <p:cNvPr id="4" name="object 4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9622536" y="22859"/>
                  </a:moveTo>
                  <a:lnTo>
                    <a:pt x="0" y="22859"/>
                  </a:lnTo>
                  <a:lnTo>
                    <a:pt x="0" y="0"/>
                  </a:lnTo>
                  <a:lnTo>
                    <a:pt x="9622536" y="0"/>
                  </a:lnTo>
                  <a:lnTo>
                    <a:pt x="9622536" y="22859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0" y="0"/>
                  </a:moveTo>
                  <a:lnTo>
                    <a:pt x="9622536" y="0"/>
                  </a:lnTo>
                  <a:lnTo>
                    <a:pt x="9622536" y="22859"/>
                  </a:lnTo>
                  <a:lnTo>
                    <a:pt x="0" y="2285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5501385" y="4434585"/>
            <a:ext cx="4769485" cy="1991995"/>
            <a:chOff x="5501385" y="4434585"/>
            <a:chExt cx="4769485" cy="199199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3608" y="6284321"/>
              <a:ext cx="776429" cy="14176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507735" y="4440935"/>
              <a:ext cx="4756785" cy="1861185"/>
            </a:xfrm>
            <a:custGeom>
              <a:avLst/>
              <a:gdLst/>
              <a:ahLst/>
              <a:cxnLst/>
              <a:rect l="l" t="t" r="r" b="b"/>
              <a:pathLst>
                <a:path w="4756784" h="1861185">
                  <a:moveTo>
                    <a:pt x="4756403" y="1860803"/>
                  </a:moveTo>
                  <a:lnTo>
                    <a:pt x="0" y="1860803"/>
                  </a:lnTo>
                  <a:lnTo>
                    <a:pt x="0" y="0"/>
                  </a:lnTo>
                  <a:lnTo>
                    <a:pt x="4756403" y="0"/>
                  </a:lnTo>
                  <a:lnTo>
                    <a:pt x="4756403" y="18608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507735" y="4440935"/>
              <a:ext cx="4756785" cy="1861185"/>
            </a:xfrm>
            <a:custGeom>
              <a:avLst/>
              <a:gdLst/>
              <a:ahLst/>
              <a:cxnLst/>
              <a:rect l="l" t="t" r="r" b="b"/>
              <a:pathLst>
                <a:path w="4756784" h="1861185">
                  <a:moveTo>
                    <a:pt x="0" y="0"/>
                  </a:moveTo>
                  <a:lnTo>
                    <a:pt x="4756403" y="0"/>
                  </a:lnTo>
                  <a:lnTo>
                    <a:pt x="4756403" y="1860803"/>
                  </a:lnTo>
                  <a:lnTo>
                    <a:pt x="0" y="1860803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635751" y="4590287"/>
              <a:ext cx="363220" cy="364490"/>
            </a:xfrm>
            <a:custGeom>
              <a:avLst/>
              <a:gdLst/>
              <a:ahLst/>
              <a:cxnLst/>
              <a:rect l="l" t="t" r="r" b="b"/>
              <a:pathLst>
                <a:path w="363220" h="364489">
                  <a:moveTo>
                    <a:pt x="181356" y="364236"/>
                  </a:moveTo>
                  <a:lnTo>
                    <a:pt x="132997" y="357674"/>
                  </a:lnTo>
                  <a:lnTo>
                    <a:pt x="89633" y="339174"/>
                  </a:lnTo>
                  <a:lnTo>
                    <a:pt x="52959" y="310515"/>
                  </a:lnTo>
                  <a:lnTo>
                    <a:pt x="24666" y="273473"/>
                  </a:lnTo>
                  <a:lnTo>
                    <a:pt x="6448" y="229827"/>
                  </a:lnTo>
                  <a:lnTo>
                    <a:pt x="0" y="181356"/>
                  </a:lnTo>
                  <a:lnTo>
                    <a:pt x="6448" y="132997"/>
                  </a:lnTo>
                  <a:lnTo>
                    <a:pt x="24666" y="89633"/>
                  </a:lnTo>
                  <a:lnTo>
                    <a:pt x="52959" y="52959"/>
                  </a:lnTo>
                  <a:lnTo>
                    <a:pt x="89633" y="24666"/>
                  </a:lnTo>
                  <a:lnTo>
                    <a:pt x="132997" y="6448"/>
                  </a:lnTo>
                  <a:lnTo>
                    <a:pt x="181356" y="0"/>
                  </a:lnTo>
                  <a:lnTo>
                    <a:pt x="229714" y="6448"/>
                  </a:lnTo>
                  <a:lnTo>
                    <a:pt x="273078" y="24666"/>
                  </a:lnTo>
                  <a:lnTo>
                    <a:pt x="309753" y="52959"/>
                  </a:lnTo>
                  <a:lnTo>
                    <a:pt x="338045" y="89633"/>
                  </a:lnTo>
                  <a:lnTo>
                    <a:pt x="356263" y="132997"/>
                  </a:lnTo>
                  <a:lnTo>
                    <a:pt x="362712" y="181356"/>
                  </a:lnTo>
                  <a:lnTo>
                    <a:pt x="356263" y="229827"/>
                  </a:lnTo>
                  <a:lnTo>
                    <a:pt x="338045" y="273473"/>
                  </a:lnTo>
                  <a:lnTo>
                    <a:pt x="309753" y="310515"/>
                  </a:lnTo>
                  <a:lnTo>
                    <a:pt x="273078" y="339174"/>
                  </a:lnTo>
                  <a:lnTo>
                    <a:pt x="229714" y="357674"/>
                  </a:lnTo>
                  <a:lnTo>
                    <a:pt x="181356" y="364236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635751" y="4590287"/>
              <a:ext cx="363220" cy="364490"/>
            </a:xfrm>
            <a:custGeom>
              <a:avLst/>
              <a:gdLst/>
              <a:ahLst/>
              <a:cxnLst/>
              <a:rect l="l" t="t" r="r" b="b"/>
              <a:pathLst>
                <a:path w="363220" h="364489">
                  <a:moveTo>
                    <a:pt x="0" y="181356"/>
                  </a:moveTo>
                  <a:lnTo>
                    <a:pt x="6448" y="132997"/>
                  </a:lnTo>
                  <a:lnTo>
                    <a:pt x="24666" y="89633"/>
                  </a:lnTo>
                  <a:lnTo>
                    <a:pt x="52959" y="52959"/>
                  </a:lnTo>
                  <a:lnTo>
                    <a:pt x="89633" y="24666"/>
                  </a:lnTo>
                  <a:lnTo>
                    <a:pt x="132997" y="6448"/>
                  </a:lnTo>
                  <a:lnTo>
                    <a:pt x="181356" y="0"/>
                  </a:lnTo>
                  <a:lnTo>
                    <a:pt x="229714" y="6448"/>
                  </a:lnTo>
                  <a:lnTo>
                    <a:pt x="273078" y="24666"/>
                  </a:lnTo>
                  <a:lnTo>
                    <a:pt x="309753" y="52959"/>
                  </a:lnTo>
                  <a:lnTo>
                    <a:pt x="338045" y="89633"/>
                  </a:lnTo>
                  <a:lnTo>
                    <a:pt x="356263" y="132997"/>
                  </a:lnTo>
                  <a:lnTo>
                    <a:pt x="362712" y="181356"/>
                  </a:lnTo>
                  <a:lnTo>
                    <a:pt x="356263" y="229827"/>
                  </a:lnTo>
                  <a:lnTo>
                    <a:pt x="338045" y="273473"/>
                  </a:lnTo>
                  <a:lnTo>
                    <a:pt x="309753" y="310515"/>
                  </a:lnTo>
                  <a:lnTo>
                    <a:pt x="273078" y="339174"/>
                  </a:lnTo>
                  <a:lnTo>
                    <a:pt x="229714" y="357674"/>
                  </a:lnTo>
                  <a:lnTo>
                    <a:pt x="181356" y="364236"/>
                  </a:lnTo>
                  <a:lnTo>
                    <a:pt x="132997" y="357674"/>
                  </a:lnTo>
                  <a:lnTo>
                    <a:pt x="89633" y="339174"/>
                  </a:lnTo>
                  <a:lnTo>
                    <a:pt x="52959" y="310515"/>
                  </a:lnTo>
                  <a:lnTo>
                    <a:pt x="24666" y="273473"/>
                  </a:lnTo>
                  <a:lnTo>
                    <a:pt x="6448" y="229827"/>
                  </a:lnTo>
                  <a:lnTo>
                    <a:pt x="0" y="181356"/>
                  </a:lnTo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34923" y="1799844"/>
            <a:ext cx="9622790" cy="449580"/>
          </a:xfrm>
          <a:prstGeom prst="rect">
            <a:avLst/>
          </a:prstGeom>
          <a:solidFill>
            <a:srgbClr val="E8F7F2"/>
          </a:solidFill>
          <a:ln w="12192">
            <a:solidFill>
              <a:srgbClr val="E4E6EB"/>
            </a:solidFill>
          </a:ln>
        </p:spPr>
        <p:txBody>
          <a:bodyPr wrap="square" lIns="0" tIns="36195" rIns="0" bIns="0" rtlCol="0" vert="horz">
            <a:spAutoFit/>
          </a:bodyPr>
          <a:lstStyle/>
          <a:p>
            <a:pPr marL="266065" marR="850265">
              <a:lnSpc>
                <a:spcPct val="102499"/>
              </a:lnSpc>
              <a:spcBef>
                <a:spcPts val="285"/>
              </a:spcBef>
            </a:pP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Results</a:t>
            </a:r>
            <a:r>
              <a:rPr dirty="0" sz="1200" spc="6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delivered</a:t>
            </a:r>
            <a:r>
              <a:rPr dirty="0" sz="1200" spc="4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via</a:t>
            </a:r>
            <a:r>
              <a:rPr dirty="0" sz="1200" spc="25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WebSocket</a:t>
            </a:r>
            <a:r>
              <a:rPr dirty="0" sz="1200" spc="5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—</a:t>
            </a:r>
            <a:r>
              <a:rPr dirty="0" sz="1200" spc="25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panels</a:t>
            </a:r>
            <a:r>
              <a:rPr dirty="0" sz="1200" spc="45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fill</a:t>
            </a:r>
            <a:r>
              <a:rPr dirty="0" sz="1200" spc="45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in</a:t>
            </a:r>
            <a:r>
              <a:rPr dirty="0" sz="1200" spc="1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real-time</a:t>
            </a:r>
            <a:r>
              <a:rPr dirty="0" sz="1200" spc="35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as</a:t>
            </a:r>
            <a:r>
              <a:rPr dirty="0" sz="1200" spc="45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each</a:t>
            </a:r>
            <a:r>
              <a:rPr dirty="0" sz="1200" spc="5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agent</a:t>
            </a:r>
            <a:r>
              <a:rPr dirty="0" sz="1200" spc="4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completes.</a:t>
            </a:r>
            <a:r>
              <a:rPr dirty="0" sz="1200" spc="4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All</a:t>
            </a:r>
            <a:r>
              <a:rPr dirty="0" sz="1200" spc="35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links</a:t>
            </a:r>
            <a:r>
              <a:rPr dirty="0" sz="1200" spc="45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open</a:t>
            </a:r>
            <a:r>
              <a:rPr dirty="0" sz="1200" spc="25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in</a:t>
            </a:r>
            <a:r>
              <a:rPr dirty="0" sz="1200" spc="3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original</a:t>
            </a:r>
            <a:r>
              <a:rPr dirty="0" sz="1200" spc="6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systems.</a:t>
            </a:r>
            <a:r>
              <a:rPr dirty="0" sz="1200" spc="3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Data</a:t>
            </a:r>
            <a:r>
              <a:rPr dirty="0" sz="1200" spc="4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0A5B3D"/>
                </a:solidFill>
                <a:latin typeface="Calibri"/>
                <a:cs typeface="Calibri"/>
              </a:rPr>
              <a:t>never</a:t>
            </a:r>
            <a:r>
              <a:rPr dirty="0" sz="1200" spc="40" i="1">
                <a:solidFill>
                  <a:srgbClr val="0A5B3D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0A5B3D"/>
                </a:solidFill>
                <a:latin typeface="Calibri"/>
                <a:cs typeface="Calibri"/>
              </a:rPr>
              <a:t>stored permanently.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28573" y="2424429"/>
            <a:ext cx="4770755" cy="1873885"/>
            <a:chOff x="528573" y="2424429"/>
            <a:chExt cx="4770755" cy="1873885"/>
          </a:xfrm>
        </p:grpSpPr>
        <p:sp>
          <p:nvSpPr>
            <p:cNvPr id="14" name="object 14" descr=""/>
            <p:cNvSpPr/>
            <p:nvPr/>
          </p:nvSpPr>
          <p:spPr>
            <a:xfrm>
              <a:off x="534923" y="2430779"/>
              <a:ext cx="4758055" cy="1861185"/>
            </a:xfrm>
            <a:custGeom>
              <a:avLst/>
              <a:gdLst/>
              <a:ahLst/>
              <a:cxnLst/>
              <a:rect l="l" t="t" r="r" b="b"/>
              <a:pathLst>
                <a:path w="4758055" h="1861185">
                  <a:moveTo>
                    <a:pt x="0" y="0"/>
                  </a:moveTo>
                  <a:lnTo>
                    <a:pt x="4757927" y="0"/>
                  </a:lnTo>
                  <a:lnTo>
                    <a:pt x="4757927" y="1860804"/>
                  </a:lnTo>
                  <a:lnTo>
                    <a:pt x="0" y="186080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62939" y="2580132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182880" y="364236"/>
                  </a:moveTo>
                  <a:lnTo>
                    <a:pt x="134408" y="357674"/>
                  </a:lnTo>
                  <a:lnTo>
                    <a:pt x="90762" y="339174"/>
                  </a:lnTo>
                  <a:lnTo>
                    <a:pt x="53721" y="310515"/>
                  </a:lnTo>
                  <a:lnTo>
                    <a:pt x="25061" y="273473"/>
                  </a:lnTo>
                  <a:lnTo>
                    <a:pt x="6561" y="229827"/>
                  </a:lnTo>
                  <a:lnTo>
                    <a:pt x="0" y="181356"/>
                  </a:lnTo>
                  <a:lnTo>
                    <a:pt x="6561" y="133526"/>
                  </a:lnTo>
                  <a:lnTo>
                    <a:pt x="25061" y="90311"/>
                  </a:lnTo>
                  <a:lnTo>
                    <a:pt x="53721" y="53530"/>
                  </a:lnTo>
                  <a:lnTo>
                    <a:pt x="90762" y="25004"/>
                  </a:lnTo>
                  <a:lnTo>
                    <a:pt x="134408" y="6554"/>
                  </a:lnTo>
                  <a:lnTo>
                    <a:pt x="182880" y="0"/>
                  </a:lnTo>
                  <a:lnTo>
                    <a:pt x="231238" y="6554"/>
                  </a:lnTo>
                  <a:lnTo>
                    <a:pt x="274602" y="25004"/>
                  </a:lnTo>
                  <a:lnTo>
                    <a:pt x="311277" y="53530"/>
                  </a:lnTo>
                  <a:lnTo>
                    <a:pt x="339569" y="90311"/>
                  </a:lnTo>
                  <a:lnTo>
                    <a:pt x="357787" y="133526"/>
                  </a:lnTo>
                  <a:lnTo>
                    <a:pt x="364236" y="181356"/>
                  </a:lnTo>
                  <a:lnTo>
                    <a:pt x="357787" y="229827"/>
                  </a:lnTo>
                  <a:lnTo>
                    <a:pt x="339569" y="273473"/>
                  </a:lnTo>
                  <a:lnTo>
                    <a:pt x="311277" y="310515"/>
                  </a:lnTo>
                  <a:lnTo>
                    <a:pt x="274602" y="339174"/>
                  </a:lnTo>
                  <a:lnTo>
                    <a:pt x="231238" y="357674"/>
                  </a:lnTo>
                  <a:lnTo>
                    <a:pt x="182880" y="364236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62939" y="2580132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0" y="181356"/>
                  </a:moveTo>
                  <a:lnTo>
                    <a:pt x="6561" y="133526"/>
                  </a:lnTo>
                  <a:lnTo>
                    <a:pt x="25061" y="90311"/>
                  </a:lnTo>
                  <a:lnTo>
                    <a:pt x="53721" y="53530"/>
                  </a:lnTo>
                  <a:lnTo>
                    <a:pt x="90762" y="25004"/>
                  </a:lnTo>
                  <a:lnTo>
                    <a:pt x="134408" y="6554"/>
                  </a:lnTo>
                  <a:lnTo>
                    <a:pt x="182880" y="0"/>
                  </a:lnTo>
                  <a:lnTo>
                    <a:pt x="231238" y="6554"/>
                  </a:lnTo>
                  <a:lnTo>
                    <a:pt x="274602" y="25004"/>
                  </a:lnTo>
                  <a:lnTo>
                    <a:pt x="311277" y="53530"/>
                  </a:lnTo>
                  <a:lnTo>
                    <a:pt x="339569" y="90311"/>
                  </a:lnTo>
                  <a:lnTo>
                    <a:pt x="357787" y="133526"/>
                  </a:lnTo>
                  <a:lnTo>
                    <a:pt x="364236" y="181356"/>
                  </a:lnTo>
                  <a:lnTo>
                    <a:pt x="357787" y="229827"/>
                  </a:lnTo>
                  <a:lnTo>
                    <a:pt x="339569" y="273473"/>
                  </a:lnTo>
                  <a:lnTo>
                    <a:pt x="311277" y="310515"/>
                  </a:lnTo>
                  <a:lnTo>
                    <a:pt x="274602" y="339174"/>
                  </a:lnTo>
                  <a:lnTo>
                    <a:pt x="231238" y="357674"/>
                  </a:lnTo>
                  <a:lnTo>
                    <a:pt x="182880" y="364236"/>
                  </a:lnTo>
                  <a:lnTo>
                    <a:pt x="134408" y="357674"/>
                  </a:lnTo>
                  <a:lnTo>
                    <a:pt x="90762" y="339174"/>
                  </a:lnTo>
                  <a:lnTo>
                    <a:pt x="53721" y="310515"/>
                  </a:lnTo>
                  <a:lnTo>
                    <a:pt x="25061" y="273473"/>
                  </a:lnTo>
                  <a:lnTo>
                    <a:pt x="6561" y="229827"/>
                  </a:lnTo>
                  <a:lnTo>
                    <a:pt x="0" y="181356"/>
                  </a:lnTo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04669" y="2640573"/>
            <a:ext cx="95885" cy="221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25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33842" y="2501668"/>
            <a:ext cx="1194435" cy="5632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r>
              <a:rPr dirty="0" sz="1400" b="1">
                <a:solidFill>
                  <a:srgbClr val="1A1A1A"/>
                </a:solidFill>
                <a:latin typeface="Calibri"/>
                <a:cs typeface="Calibri"/>
              </a:rPr>
              <a:t>Bug</a:t>
            </a:r>
            <a:r>
              <a:rPr dirty="0" sz="1400" spc="-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A1A1A"/>
                </a:solidFill>
                <a:latin typeface="Calibri"/>
                <a:cs typeface="Calibri"/>
              </a:rPr>
              <a:t>Context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r>
              <a:rPr dirty="0" sz="1100" i="1">
                <a:solidFill>
                  <a:srgbClr val="01A882"/>
                </a:solidFill>
                <a:latin typeface="Calibri"/>
                <a:cs typeface="Calibri"/>
              </a:rPr>
              <a:t>From: Context </a:t>
            </a:r>
            <a:r>
              <a:rPr dirty="0" sz="1100" spc="-20" i="1">
                <a:solidFill>
                  <a:srgbClr val="01A882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33984" y="3118104"/>
            <a:ext cx="4506595" cy="805180"/>
            <a:chOff x="633984" y="3118104"/>
            <a:chExt cx="4506595" cy="805180"/>
          </a:xfrm>
        </p:grpSpPr>
        <p:sp>
          <p:nvSpPr>
            <p:cNvPr id="20" name="object 20" descr=""/>
            <p:cNvSpPr/>
            <p:nvPr/>
          </p:nvSpPr>
          <p:spPr>
            <a:xfrm>
              <a:off x="641604" y="3125724"/>
              <a:ext cx="4491355" cy="21590"/>
            </a:xfrm>
            <a:custGeom>
              <a:avLst/>
              <a:gdLst/>
              <a:ahLst/>
              <a:cxnLst/>
              <a:rect l="l" t="t" r="r" b="b"/>
              <a:pathLst>
                <a:path w="4491355" h="21589">
                  <a:moveTo>
                    <a:pt x="4491228" y="21335"/>
                  </a:moveTo>
                  <a:lnTo>
                    <a:pt x="0" y="21335"/>
                  </a:lnTo>
                  <a:lnTo>
                    <a:pt x="0" y="0"/>
                  </a:lnTo>
                  <a:lnTo>
                    <a:pt x="4491228" y="0"/>
                  </a:lnTo>
                  <a:lnTo>
                    <a:pt x="4491228" y="21335"/>
                  </a:lnTo>
                  <a:close/>
                </a:path>
              </a:pathLst>
            </a:custGeom>
            <a:solidFill>
              <a:srgbClr val="E4E6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41604" y="3125724"/>
              <a:ext cx="4491355" cy="21590"/>
            </a:xfrm>
            <a:custGeom>
              <a:avLst/>
              <a:gdLst/>
              <a:ahLst/>
              <a:cxnLst/>
              <a:rect l="l" t="t" r="r" b="b"/>
              <a:pathLst>
                <a:path w="4491355" h="21589">
                  <a:moveTo>
                    <a:pt x="0" y="0"/>
                  </a:moveTo>
                  <a:lnTo>
                    <a:pt x="4491228" y="0"/>
                  </a:lnTo>
                  <a:lnTo>
                    <a:pt x="4491228" y="21335"/>
                  </a:lnTo>
                  <a:lnTo>
                    <a:pt x="0" y="21335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8064" y="3813048"/>
              <a:ext cx="111251" cy="109727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801607" y="3104434"/>
            <a:ext cx="3439160" cy="11430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00685" indent="-400685">
              <a:lnSpc>
                <a:spcPct val="100000"/>
              </a:lnSpc>
              <a:spcBef>
                <a:spcPts val="675"/>
              </a:spcBef>
              <a:buChar char="•"/>
              <a:tabLst>
                <a:tab pos="400685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Title,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priority,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status,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component,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assignee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80"/>
              </a:spcBef>
              <a:buChar char="•"/>
              <a:tabLst>
                <a:tab pos="400685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SLA</a:t>
            </a:r>
            <a:r>
              <a:rPr dirty="0" sz="13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warning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if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breach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is</a:t>
            </a:r>
            <a:r>
              <a:rPr dirty="0"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imminent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85"/>
              </a:spcBef>
              <a:buChar char="•"/>
              <a:tabLst>
                <a:tab pos="400685" algn="l"/>
                <a:tab pos="2172970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Open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in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JIRA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/</a:t>
            </a:r>
            <a:r>
              <a:rPr dirty="0"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Bugzilla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	—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links</a:t>
            </a:r>
            <a:r>
              <a:rPr dirty="0"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dirty="0"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original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75"/>
              </a:spcBef>
              <a:buChar char="•"/>
              <a:tabLst>
                <a:tab pos="400685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Customer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case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IDs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linked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this</a:t>
            </a:r>
            <a:r>
              <a:rPr dirty="0" sz="1350" spc="-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bug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501385" y="2424429"/>
            <a:ext cx="4769485" cy="1873885"/>
            <a:chOff x="5501385" y="2424429"/>
            <a:chExt cx="4769485" cy="1873885"/>
          </a:xfrm>
        </p:grpSpPr>
        <p:sp>
          <p:nvSpPr>
            <p:cNvPr id="25" name="object 25" descr=""/>
            <p:cNvSpPr/>
            <p:nvPr/>
          </p:nvSpPr>
          <p:spPr>
            <a:xfrm>
              <a:off x="5507735" y="2430779"/>
              <a:ext cx="4756785" cy="1861185"/>
            </a:xfrm>
            <a:custGeom>
              <a:avLst/>
              <a:gdLst/>
              <a:ahLst/>
              <a:cxnLst/>
              <a:rect l="l" t="t" r="r" b="b"/>
              <a:pathLst>
                <a:path w="4756784" h="1861185">
                  <a:moveTo>
                    <a:pt x="0" y="0"/>
                  </a:moveTo>
                  <a:lnTo>
                    <a:pt x="4756403" y="0"/>
                  </a:lnTo>
                  <a:lnTo>
                    <a:pt x="4756403" y="1860804"/>
                  </a:lnTo>
                  <a:lnTo>
                    <a:pt x="0" y="186080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635751" y="2580132"/>
              <a:ext cx="363220" cy="364490"/>
            </a:xfrm>
            <a:custGeom>
              <a:avLst/>
              <a:gdLst/>
              <a:ahLst/>
              <a:cxnLst/>
              <a:rect l="l" t="t" r="r" b="b"/>
              <a:pathLst>
                <a:path w="363220" h="364489">
                  <a:moveTo>
                    <a:pt x="181356" y="364236"/>
                  </a:moveTo>
                  <a:lnTo>
                    <a:pt x="132997" y="357674"/>
                  </a:lnTo>
                  <a:lnTo>
                    <a:pt x="89633" y="339174"/>
                  </a:lnTo>
                  <a:lnTo>
                    <a:pt x="52959" y="310515"/>
                  </a:lnTo>
                  <a:lnTo>
                    <a:pt x="24666" y="273473"/>
                  </a:lnTo>
                  <a:lnTo>
                    <a:pt x="6448" y="229827"/>
                  </a:lnTo>
                  <a:lnTo>
                    <a:pt x="0" y="181356"/>
                  </a:lnTo>
                  <a:lnTo>
                    <a:pt x="6448" y="133526"/>
                  </a:lnTo>
                  <a:lnTo>
                    <a:pt x="24666" y="90311"/>
                  </a:lnTo>
                  <a:lnTo>
                    <a:pt x="52959" y="53530"/>
                  </a:lnTo>
                  <a:lnTo>
                    <a:pt x="89633" y="25004"/>
                  </a:lnTo>
                  <a:lnTo>
                    <a:pt x="132997" y="6554"/>
                  </a:lnTo>
                  <a:lnTo>
                    <a:pt x="181356" y="0"/>
                  </a:lnTo>
                  <a:lnTo>
                    <a:pt x="229714" y="6554"/>
                  </a:lnTo>
                  <a:lnTo>
                    <a:pt x="273078" y="25004"/>
                  </a:lnTo>
                  <a:lnTo>
                    <a:pt x="309753" y="53530"/>
                  </a:lnTo>
                  <a:lnTo>
                    <a:pt x="338045" y="90311"/>
                  </a:lnTo>
                  <a:lnTo>
                    <a:pt x="356263" y="133526"/>
                  </a:lnTo>
                  <a:lnTo>
                    <a:pt x="362712" y="181356"/>
                  </a:lnTo>
                  <a:lnTo>
                    <a:pt x="356263" y="229827"/>
                  </a:lnTo>
                  <a:lnTo>
                    <a:pt x="338045" y="273473"/>
                  </a:lnTo>
                  <a:lnTo>
                    <a:pt x="309753" y="310515"/>
                  </a:lnTo>
                  <a:lnTo>
                    <a:pt x="273078" y="339174"/>
                  </a:lnTo>
                  <a:lnTo>
                    <a:pt x="229714" y="357674"/>
                  </a:lnTo>
                  <a:lnTo>
                    <a:pt x="181356" y="364236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635751" y="2580132"/>
              <a:ext cx="363220" cy="364490"/>
            </a:xfrm>
            <a:custGeom>
              <a:avLst/>
              <a:gdLst/>
              <a:ahLst/>
              <a:cxnLst/>
              <a:rect l="l" t="t" r="r" b="b"/>
              <a:pathLst>
                <a:path w="363220" h="364489">
                  <a:moveTo>
                    <a:pt x="0" y="181356"/>
                  </a:moveTo>
                  <a:lnTo>
                    <a:pt x="6448" y="133526"/>
                  </a:lnTo>
                  <a:lnTo>
                    <a:pt x="24666" y="90311"/>
                  </a:lnTo>
                  <a:lnTo>
                    <a:pt x="52959" y="53530"/>
                  </a:lnTo>
                  <a:lnTo>
                    <a:pt x="89633" y="25004"/>
                  </a:lnTo>
                  <a:lnTo>
                    <a:pt x="132997" y="6554"/>
                  </a:lnTo>
                  <a:lnTo>
                    <a:pt x="181356" y="0"/>
                  </a:lnTo>
                  <a:lnTo>
                    <a:pt x="229714" y="6554"/>
                  </a:lnTo>
                  <a:lnTo>
                    <a:pt x="273078" y="25004"/>
                  </a:lnTo>
                  <a:lnTo>
                    <a:pt x="309753" y="53530"/>
                  </a:lnTo>
                  <a:lnTo>
                    <a:pt x="338045" y="90311"/>
                  </a:lnTo>
                  <a:lnTo>
                    <a:pt x="356263" y="133526"/>
                  </a:lnTo>
                  <a:lnTo>
                    <a:pt x="362712" y="181356"/>
                  </a:lnTo>
                  <a:lnTo>
                    <a:pt x="356263" y="229827"/>
                  </a:lnTo>
                  <a:lnTo>
                    <a:pt x="338045" y="273473"/>
                  </a:lnTo>
                  <a:lnTo>
                    <a:pt x="309753" y="310515"/>
                  </a:lnTo>
                  <a:lnTo>
                    <a:pt x="273078" y="339174"/>
                  </a:lnTo>
                  <a:lnTo>
                    <a:pt x="229714" y="357674"/>
                  </a:lnTo>
                  <a:lnTo>
                    <a:pt x="181356" y="364236"/>
                  </a:lnTo>
                  <a:lnTo>
                    <a:pt x="132997" y="357674"/>
                  </a:lnTo>
                  <a:lnTo>
                    <a:pt x="89633" y="339174"/>
                  </a:lnTo>
                  <a:lnTo>
                    <a:pt x="52959" y="310515"/>
                  </a:lnTo>
                  <a:lnTo>
                    <a:pt x="24666" y="273473"/>
                  </a:lnTo>
                  <a:lnTo>
                    <a:pt x="6448" y="229827"/>
                  </a:lnTo>
                  <a:lnTo>
                    <a:pt x="0" y="181356"/>
                  </a:lnTo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775944" y="2640573"/>
            <a:ext cx="95885" cy="221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25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105121" y="2501668"/>
            <a:ext cx="1850389" cy="5632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r>
              <a:rPr dirty="0" sz="1400" b="1">
                <a:solidFill>
                  <a:srgbClr val="1A1A1A"/>
                </a:solidFill>
                <a:latin typeface="Calibri"/>
                <a:cs typeface="Calibri"/>
              </a:rPr>
              <a:t>Related</a:t>
            </a:r>
            <a:r>
              <a:rPr dirty="0" sz="1400" spc="-8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A1A1A"/>
                </a:solidFill>
                <a:latin typeface="Calibri"/>
                <a:cs typeface="Calibri"/>
              </a:rPr>
              <a:t>Issues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r>
              <a:rPr dirty="0" sz="1100" i="1">
                <a:solidFill>
                  <a:srgbClr val="01A882"/>
                </a:solidFill>
                <a:latin typeface="Calibri"/>
                <a:cs typeface="Calibri"/>
              </a:rPr>
              <a:t>From:</a:t>
            </a:r>
            <a:r>
              <a:rPr dirty="0" sz="1100" spc="-5" i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1A882"/>
                </a:solidFill>
                <a:latin typeface="Calibri"/>
                <a:cs typeface="Calibri"/>
              </a:rPr>
              <a:t>Cross-System</a:t>
            </a:r>
            <a:r>
              <a:rPr dirty="0" sz="1100" spc="10" i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1A882"/>
                </a:solidFill>
                <a:latin typeface="Calibri"/>
                <a:cs typeface="Calibri"/>
              </a:rPr>
              <a:t>Fetch</a:t>
            </a:r>
            <a:r>
              <a:rPr dirty="0" sz="1100" spc="15" i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01A882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606796" y="3118104"/>
            <a:ext cx="4505325" cy="36830"/>
            <a:chOff x="5606796" y="3118104"/>
            <a:chExt cx="4505325" cy="36830"/>
          </a:xfrm>
        </p:grpSpPr>
        <p:sp>
          <p:nvSpPr>
            <p:cNvPr id="31" name="object 31" descr=""/>
            <p:cNvSpPr/>
            <p:nvPr/>
          </p:nvSpPr>
          <p:spPr>
            <a:xfrm>
              <a:off x="5614416" y="3125724"/>
              <a:ext cx="4490085" cy="21590"/>
            </a:xfrm>
            <a:custGeom>
              <a:avLst/>
              <a:gdLst/>
              <a:ahLst/>
              <a:cxnLst/>
              <a:rect l="l" t="t" r="r" b="b"/>
              <a:pathLst>
                <a:path w="4490084" h="21589">
                  <a:moveTo>
                    <a:pt x="4489704" y="21335"/>
                  </a:moveTo>
                  <a:lnTo>
                    <a:pt x="0" y="21335"/>
                  </a:lnTo>
                  <a:lnTo>
                    <a:pt x="0" y="0"/>
                  </a:lnTo>
                  <a:lnTo>
                    <a:pt x="4489704" y="0"/>
                  </a:lnTo>
                  <a:lnTo>
                    <a:pt x="4489704" y="21335"/>
                  </a:lnTo>
                  <a:close/>
                </a:path>
              </a:pathLst>
            </a:custGeom>
            <a:solidFill>
              <a:srgbClr val="E4E6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614416" y="3125724"/>
              <a:ext cx="4490085" cy="21590"/>
            </a:xfrm>
            <a:custGeom>
              <a:avLst/>
              <a:gdLst/>
              <a:ahLst/>
              <a:cxnLst/>
              <a:rect l="l" t="t" r="r" b="b"/>
              <a:pathLst>
                <a:path w="4490084" h="21589">
                  <a:moveTo>
                    <a:pt x="0" y="0"/>
                  </a:moveTo>
                  <a:lnTo>
                    <a:pt x="4489704" y="0"/>
                  </a:lnTo>
                  <a:lnTo>
                    <a:pt x="4489704" y="21335"/>
                  </a:lnTo>
                  <a:lnTo>
                    <a:pt x="0" y="21335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5772961" y="3104434"/>
            <a:ext cx="3314065" cy="11430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00685" indent="-400685">
              <a:lnSpc>
                <a:spcPct val="100000"/>
              </a:lnSpc>
              <a:spcBef>
                <a:spcPts val="675"/>
              </a:spcBef>
              <a:buChar char="•"/>
              <a:tabLst>
                <a:tab pos="400685" algn="l"/>
              </a:tabLst>
            </a:pP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Similar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bugs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r>
              <a:rPr dirty="0" sz="13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JIRA,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Bugzilla,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GitHub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80"/>
              </a:spcBef>
              <a:buChar char="•"/>
              <a:tabLst>
                <a:tab pos="400685" algn="l"/>
              </a:tabLst>
            </a:pP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Similarity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%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score</a:t>
            </a:r>
            <a:r>
              <a:rPr dirty="0" sz="13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on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every</a:t>
            </a:r>
            <a:r>
              <a:rPr dirty="0" sz="13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result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85"/>
              </a:spcBef>
              <a:buChar char="•"/>
              <a:tabLst>
                <a:tab pos="400685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GitHub</a:t>
            </a:r>
            <a:r>
              <a:rPr dirty="0" sz="1350" spc="-6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PR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may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already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contain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dirty="0" sz="135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fix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75"/>
              </a:spcBef>
              <a:buChar char="•"/>
              <a:tabLst>
                <a:tab pos="400685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Direct link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dirty="0"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each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issue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in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original</a:t>
            </a:r>
            <a:r>
              <a:rPr dirty="0" sz="135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system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528573" y="4434585"/>
            <a:ext cx="4770755" cy="1873885"/>
            <a:chOff x="528573" y="4434585"/>
            <a:chExt cx="4770755" cy="1873885"/>
          </a:xfrm>
        </p:grpSpPr>
        <p:sp>
          <p:nvSpPr>
            <p:cNvPr id="35" name="object 35" descr=""/>
            <p:cNvSpPr/>
            <p:nvPr/>
          </p:nvSpPr>
          <p:spPr>
            <a:xfrm>
              <a:off x="534923" y="4440935"/>
              <a:ext cx="4758055" cy="1861185"/>
            </a:xfrm>
            <a:custGeom>
              <a:avLst/>
              <a:gdLst/>
              <a:ahLst/>
              <a:cxnLst/>
              <a:rect l="l" t="t" r="r" b="b"/>
              <a:pathLst>
                <a:path w="4758055" h="1861185">
                  <a:moveTo>
                    <a:pt x="0" y="0"/>
                  </a:moveTo>
                  <a:lnTo>
                    <a:pt x="4757927" y="0"/>
                  </a:lnTo>
                  <a:lnTo>
                    <a:pt x="4757927" y="1860803"/>
                  </a:lnTo>
                  <a:lnTo>
                    <a:pt x="0" y="1860803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62939" y="4590287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182880" y="364236"/>
                  </a:moveTo>
                  <a:lnTo>
                    <a:pt x="134408" y="357674"/>
                  </a:lnTo>
                  <a:lnTo>
                    <a:pt x="90762" y="339174"/>
                  </a:lnTo>
                  <a:lnTo>
                    <a:pt x="53721" y="310515"/>
                  </a:lnTo>
                  <a:lnTo>
                    <a:pt x="25061" y="273473"/>
                  </a:lnTo>
                  <a:lnTo>
                    <a:pt x="6561" y="229827"/>
                  </a:lnTo>
                  <a:lnTo>
                    <a:pt x="0" y="181356"/>
                  </a:lnTo>
                  <a:lnTo>
                    <a:pt x="6561" y="132997"/>
                  </a:lnTo>
                  <a:lnTo>
                    <a:pt x="25061" y="89633"/>
                  </a:lnTo>
                  <a:lnTo>
                    <a:pt x="53721" y="52959"/>
                  </a:lnTo>
                  <a:lnTo>
                    <a:pt x="90762" y="24666"/>
                  </a:lnTo>
                  <a:lnTo>
                    <a:pt x="134408" y="6448"/>
                  </a:lnTo>
                  <a:lnTo>
                    <a:pt x="182880" y="0"/>
                  </a:lnTo>
                  <a:lnTo>
                    <a:pt x="231238" y="6448"/>
                  </a:lnTo>
                  <a:lnTo>
                    <a:pt x="274602" y="24666"/>
                  </a:lnTo>
                  <a:lnTo>
                    <a:pt x="311277" y="52959"/>
                  </a:lnTo>
                  <a:lnTo>
                    <a:pt x="339569" y="89633"/>
                  </a:lnTo>
                  <a:lnTo>
                    <a:pt x="357787" y="132997"/>
                  </a:lnTo>
                  <a:lnTo>
                    <a:pt x="364236" y="181356"/>
                  </a:lnTo>
                  <a:lnTo>
                    <a:pt x="357787" y="229827"/>
                  </a:lnTo>
                  <a:lnTo>
                    <a:pt x="339569" y="273473"/>
                  </a:lnTo>
                  <a:lnTo>
                    <a:pt x="311277" y="310515"/>
                  </a:lnTo>
                  <a:lnTo>
                    <a:pt x="274602" y="339174"/>
                  </a:lnTo>
                  <a:lnTo>
                    <a:pt x="231238" y="357674"/>
                  </a:lnTo>
                  <a:lnTo>
                    <a:pt x="182880" y="364236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62939" y="4590287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90" h="364489">
                  <a:moveTo>
                    <a:pt x="0" y="181356"/>
                  </a:moveTo>
                  <a:lnTo>
                    <a:pt x="6561" y="132997"/>
                  </a:lnTo>
                  <a:lnTo>
                    <a:pt x="25061" y="89633"/>
                  </a:lnTo>
                  <a:lnTo>
                    <a:pt x="53721" y="52959"/>
                  </a:lnTo>
                  <a:lnTo>
                    <a:pt x="90762" y="24666"/>
                  </a:lnTo>
                  <a:lnTo>
                    <a:pt x="134408" y="6448"/>
                  </a:lnTo>
                  <a:lnTo>
                    <a:pt x="182880" y="0"/>
                  </a:lnTo>
                  <a:lnTo>
                    <a:pt x="231238" y="6448"/>
                  </a:lnTo>
                  <a:lnTo>
                    <a:pt x="274602" y="24666"/>
                  </a:lnTo>
                  <a:lnTo>
                    <a:pt x="311277" y="52959"/>
                  </a:lnTo>
                  <a:lnTo>
                    <a:pt x="339569" y="89633"/>
                  </a:lnTo>
                  <a:lnTo>
                    <a:pt x="357787" y="132997"/>
                  </a:lnTo>
                  <a:lnTo>
                    <a:pt x="364236" y="181356"/>
                  </a:lnTo>
                  <a:lnTo>
                    <a:pt x="357787" y="229827"/>
                  </a:lnTo>
                  <a:lnTo>
                    <a:pt x="339569" y="273473"/>
                  </a:lnTo>
                  <a:lnTo>
                    <a:pt x="311277" y="310515"/>
                  </a:lnTo>
                  <a:lnTo>
                    <a:pt x="274602" y="339174"/>
                  </a:lnTo>
                  <a:lnTo>
                    <a:pt x="231238" y="357674"/>
                  </a:lnTo>
                  <a:lnTo>
                    <a:pt x="182880" y="364236"/>
                  </a:lnTo>
                  <a:lnTo>
                    <a:pt x="134408" y="357674"/>
                  </a:lnTo>
                  <a:lnTo>
                    <a:pt x="90762" y="339174"/>
                  </a:lnTo>
                  <a:lnTo>
                    <a:pt x="53721" y="310515"/>
                  </a:lnTo>
                  <a:lnTo>
                    <a:pt x="25061" y="273473"/>
                  </a:lnTo>
                  <a:lnTo>
                    <a:pt x="6561" y="229827"/>
                  </a:lnTo>
                  <a:lnTo>
                    <a:pt x="0" y="181356"/>
                  </a:lnTo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804669" y="4650733"/>
            <a:ext cx="95885" cy="221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25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133842" y="4511856"/>
            <a:ext cx="1402715" cy="5632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r>
              <a:rPr dirty="0" sz="1400" b="1">
                <a:solidFill>
                  <a:srgbClr val="1A1A1A"/>
                </a:solidFill>
                <a:latin typeface="Calibri"/>
                <a:cs typeface="Calibri"/>
              </a:rPr>
              <a:t>Linked</a:t>
            </a:r>
            <a:r>
              <a:rPr dirty="0" sz="1400" spc="-3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A1A1A"/>
                </a:solidFill>
                <a:latin typeface="Calibri"/>
                <a:cs typeface="Calibri"/>
              </a:rPr>
              <a:t>Context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r>
              <a:rPr dirty="0" sz="1100" i="1">
                <a:solidFill>
                  <a:srgbClr val="01A882"/>
                </a:solidFill>
                <a:latin typeface="Calibri"/>
                <a:cs typeface="Calibri"/>
              </a:rPr>
              <a:t>From:</a:t>
            </a:r>
            <a:r>
              <a:rPr dirty="0" sz="1100" spc="5" i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1A882"/>
                </a:solidFill>
                <a:latin typeface="Calibri"/>
                <a:cs typeface="Calibri"/>
              </a:rPr>
              <a:t>Enrichment</a:t>
            </a:r>
            <a:r>
              <a:rPr dirty="0" sz="1100" spc="-5" i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01A882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633984" y="5128260"/>
            <a:ext cx="4506595" cy="36830"/>
            <a:chOff x="633984" y="5128260"/>
            <a:chExt cx="4506595" cy="36830"/>
          </a:xfrm>
        </p:grpSpPr>
        <p:sp>
          <p:nvSpPr>
            <p:cNvPr id="41" name="object 41" descr=""/>
            <p:cNvSpPr/>
            <p:nvPr/>
          </p:nvSpPr>
          <p:spPr>
            <a:xfrm>
              <a:off x="641604" y="5135880"/>
              <a:ext cx="4491355" cy="21590"/>
            </a:xfrm>
            <a:custGeom>
              <a:avLst/>
              <a:gdLst/>
              <a:ahLst/>
              <a:cxnLst/>
              <a:rect l="l" t="t" r="r" b="b"/>
              <a:pathLst>
                <a:path w="4491355" h="21589">
                  <a:moveTo>
                    <a:pt x="4491228" y="21335"/>
                  </a:moveTo>
                  <a:lnTo>
                    <a:pt x="0" y="21335"/>
                  </a:lnTo>
                  <a:lnTo>
                    <a:pt x="0" y="0"/>
                  </a:lnTo>
                  <a:lnTo>
                    <a:pt x="4491228" y="0"/>
                  </a:lnTo>
                  <a:lnTo>
                    <a:pt x="4491228" y="21335"/>
                  </a:lnTo>
                  <a:close/>
                </a:path>
              </a:pathLst>
            </a:custGeom>
            <a:solidFill>
              <a:srgbClr val="E4E6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41604" y="5135880"/>
              <a:ext cx="4491355" cy="21590"/>
            </a:xfrm>
            <a:custGeom>
              <a:avLst/>
              <a:gdLst/>
              <a:ahLst/>
              <a:cxnLst/>
              <a:rect l="l" t="t" r="r" b="b"/>
              <a:pathLst>
                <a:path w="4491355" h="21589">
                  <a:moveTo>
                    <a:pt x="0" y="0"/>
                  </a:moveTo>
                  <a:lnTo>
                    <a:pt x="4491228" y="0"/>
                  </a:lnTo>
                  <a:lnTo>
                    <a:pt x="4491228" y="21335"/>
                  </a:lnTo>
                  <a:lnTo>
                    <a:pt x="0" y="21335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801607" y="5114672"/>
            <a:ext cx="3227705" cy="11430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00685" indent="-400685">
              <a:lnSpc>
                <a:spcPct val="100000"/>
              </a:lnSpc>
              <a:spcBef>
                <a:spcPts val="675"/>
              </a:spcBef>
              <a:buChar char="•"/>
              <a:tabLst>
                <a:tab pos="400685" algn="l"/>
              </a:tabLst>
            </a:pP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Confluence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KB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articles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runbooks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75"/>
              </a:spcBef>
              <a:buChar char="•"/>
              <a:tabLst>
                <a:tab pos="400685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Customer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case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notes</a:t>
            </a:r>
            <a:r>
              <a:rPr dirty="0" sz="1350" spc="-5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portal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90"/>
              </a:spcBef>
              <a:buChar char="•"/>
              <a:tabLst>
                <a:tab pos="400685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Parent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epic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user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story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links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75"/>
              </a:spcBef>
              <a:buChar char="•"/>
              <a:tabLst>
                <a:tab pos="400685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Past</a:t>
            </a:r>
            <a:r>
              <a:rPr dirty="0" sz="135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incident</a:t>
            </a:r>
            <a:r>
              <a:rPr dirty="0" sz="1350" spc="-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reports</a:t>
            </a:r>
            <a:r>
              <a:rPr dirty="0"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for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this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component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775944" y="4650733"/>
            <a:ext cx="95885" cy="221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25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6105121" y="4511856"/>
            <a:ext cx="1429385" cy="5632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r>
              <a:rPr dirty="0" sz="1400" b="1">
                <a:solidFill>
                  <a:srgbClr val="1A1A1A"/>
                </a:solidFill>
                <a:latin typeface="Calibri"/>
                <a:cs typeface="Calibri"/>
              </a:rPr>
              <a:t>AI</a:t>
            </a:r>
            <a:r>
              <a:rPr dirty="0" sz="1400" spc="-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A1A1A"/>
                </a:solidFill>
                <a:latin typeface="Calibri"/>
                <a:cs typeface="Calibri"/>
              </a:rPr>
              <a:t>Summary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r>
              <a:rPr dirty="0" sz="1100" i="1">
                <a:solidFill>
                  <a:srgbClr val="01A882"/>
                </a:solidFill>
                <a:latin typeface="Calibri"/>
                <a:cs typeface="Calibri"/>
              </a:rPr>
              <a:t>From:</a:t>
            </a:r>
            <a:r>
              <a:rPr dirty="0" sz="1100" spc="-5" i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1A882"/>
                </a:solidFill>
                <a:latin typeface="Calibri"/>
                <a:cs typeface="Calibri"/>
              </a:rPr>
              <a:t>AI</a:t>
            </a:r>
            <a:r>
              <a:rPr dirty="0" sz="1100" spc="25" i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1A882"/>
                </a:solidFill>
                <a:latin typeface="Calibri"/>
                <a:cs typeface="Calibri"/>
              </a:rPr>
              <a:t>Synthesis</a:t>
            </a:r>
            <a:r>
              <a:rPr dirty="0" sz="1100" spc="-10" i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01A882"/>
                </a:solidFill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5606796" y="5128260"/>
            <a:ext cx="4505325" cy="36830"/>
            <a:chOff x="5606796" y="5128260"/>
            <a:chExt cx="4505325" cy="36830"/>
          </a:xfrm>
        </p:grpSpPr>
        <p:sp>
          <p:nvSpPr>
            <p:cNvPr id="47" name="object 47" descr=""/>
            <p:cNvSpPr/>
            <p:nvPr/>
          </p:nvSpPr>
          <p:spPr>
            <a:xfrm>
              <a:off x="5614416" y="5135880"/>
              <a:ext cx="4490085" cy="21590"/>
            </a:xfrm>
            <a:custGeom>
              <a:avLst/>
              <a:gdLst/>
              <a:ahLst/>
              <a:cxnLst/>
              <a:rect l="l" t="t" r="r" b="b"/>
              <a:pathLst>
                <a:path w="4490084" h="21589">
                  <a:moveTo>
                    <a:pt x="4489704" y="21335"/>
                  </a:moveTo>
                  <a:lnTo>
                    <a:pt x="0" y="21335"/>
                  </a:lnTo>
                  <a:lnTo>
                    <a:pt x="0" y="0"/>
                  </a:lnTo>
                  <a:lnTo>
                    <a:pt x="4489704" y="0"/>
                  </a:lnTo>
                  <a:lnTo>
                    <a:pt x="4489704" y="21335"/>
                  </a:lnTo>
                  <a:close/>
                </a:path>
              </a:pathLst>
            </a:custGeom>
            <a:solidFill>
              <a:srgbClr val="E4E6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614416" y="5135880"/>
              <a:ext cx="4490085" cy="21590"/>
            </a:xfrm>
            <a:custGeom>
              <a:avLst/>
              <a:gdLst/>
              <a:ahLst/>
              <a:cxnLst/>
              <a:rect l="l" t="t" r="r" b="b"/>
              <a:pathLst>
                <a:path w="4490084" h="21589">
                  <a:moveTo>
                    <a:pt x="0" y="0"/>
                  </a:moveTo>
                  <a:lnTo>
                    <a:pt x="4489704" y="0"/>
                  </a:lnTo>
                  <a:lnTo>
                    <a:pt x="4489704" y="21335"/>
                  </a:lnTo>
                  <a:lnTo>
                    <a:pt x="0" y="21335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5772961" y="5114672"/>
            <a:ext cx="3601085" cy="11430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00685" indent="-400685">
              <a:lnSpc>
                <a:spcPct val="100000"/>
              </a:lnSpc>
              <a:spcBef>
                <a:spcPts val="675"/>
              </a:spcBef>
              <a:buChar char="•"/>
              <a:tabLst>
                <a:tab pos="400685" algn="l"/>
              </a:tabLst>
            </a:pP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Suggested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severity</a:t>
            </a:r>
            <a:r>
              <a:rPr dirty="0" sz="13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with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 confidence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score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75"/>
              </a:spcBef>
              <a:buChar char="•"/>
              <a:tabLst>
                <a:tab pos="400685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Root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cause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hypothesis</a:t>
            </a:r>
            <a:r>
              <a:rPr dirty="0" sz="1350" spc="-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with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source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references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90"/>
              </a:spcBef>
              <a:buChar char="•"/>
              <a:tabLst>
                <a:tab pos="400685" algn="l"/>
              </a:tabLst>
            </a:pP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Recommended</a:t>
            </a:r>
            <a:r>
              <a:rPr dirty="0"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actions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in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priority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order</a:t>
            </a:r>
            <a:endParaRPr sz="1350">
              <a:latin typeface="Calibri"/>
              <a:cs typeface="Calibri"/>
            </a:endParaRPr>
          </a:p>
          <a:p>
            <a:pPr marL="400685" indent="-400685">
              <a:lnSpc>
                <a:spcPct val="100000"/>
              </a:lnSpc>
              <a:spcBef>
                <a:spcPts val="575"/>
              </a:spcBef>
              <a:buChar char="•"/>
              <a:tabLst>
                <a:tab pos="400685" algn="l"/>
              </a:tabLst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Labeled</a:t>
            </a:r>
            <a:r>
              <a:rPr dirty="0"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as</a:t>
            </a:r>
            <a:r>
              <a:rPr dirty="0" sz="135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AI</a:t>
            </a:r>
            <a:r>
              <a:rPr dirty="0"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suggestion</a:t>
            </a:r>
            <a:r>
              <a:rPr dirty="0"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dirty="0"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engineer</a:t>
            </a:r>
            <a:r>
              <a:rPr dirty="0"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alibri"/>
                <a:cs typeface="Calibri"/>
              </a:rPr>
              <a:t>decides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Technology</a:t>
            </a:r>
            <a:r>
              <a:rPr dirty="0" spc="-90"/>
              <a:t> </a:t>
            </a:r>
            <a:r>
              <a:rPr dirty="0" spc="-20"/>
              <a:t>Stack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27304" y="1600200"/>
            <a:ext cx="9638030" cy="38100"/>
            <a:chOff x="527304" y="1600200"/>
            <a:chExt cx="9638030" cy="38100"/>
          </a:xfrm>
        </p:grpSpPr>
        <p:sp>
          <p:nvSpPr>
            <p:cNvPr id="4" name="object 4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9622536" y="22859"/>
                  </a:moveTo>
                  <a:lnTo>
                    <a:pt x="0" y="22859"/>
                  </a:lnTo>
                  <a:lnTo>
                    <a:pt x="0" y="0"/>
                  </a:lnTo>
                  <a:lnTo>
                    <a:pt x="9622536" y="0"/>
                  </a:lnTo>
                  <a:lnTo>
                    <a:pt x="9622536" y="22859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0" y="0"/>
                  </a:moveTo>
                  <a:lnTo>
                    <a:pt x="9622536" y="0"/>
                  </a:lnTo>
                  <a:lnTo>
                    <a:pt x="9622536" y="22859"/>
                  </a:lnTo>
                  <a:lnTo>
                    <a:pt x="0" y="2285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3608" y="6284321"/>
            <a:ext cx="776429" cy="141760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527304" y="1888235"/>
            <a:ext cx="4825365" cy="784860"/>
            <a:chOff x="527304" y="1888235"/>
            <a:chExt cx="4825365" cy="784860"/>
          </a:xfrm>
        </p:grpSpPr>
        <p:sp>
          <p:nvSpPr>
            <p:cNvPr id="8" name="object 8" descr=""/>
            <p:cNvSpPr/>
            <p:nvPr/>
          </p:nvSpPr>
          <p:spPr>
            <a:xfrm>
              <a:off x="534924" y="1895855"/>
              <a:ext cx="4811395" cy="769620"/>
            </a:xfrm>
            <a:custGeom>
              <a:avLst/>
              <a:gdLst/>
              <a:ahLst/>
              <a:cxnLst/>
              <a:rect l="l" t="t" r="r" b="b"/>
              <a:pathLst>
                <a:path w="4811395" h="769619">
                  <a:moveTo>
                    <a:pt x="0" y="0"/>
                  </a:moveTo>
                  <a:lnTo>
                    <a:pt x="4811268" y="0"/>
                  </a:lnTo>
                  <a:lnTo>
                    <a:pt x="481126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34924" y="1895855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4" h="769619">
                  <a:moveTo>
                    <a:pt x="64008" y="769620"/>
                  </a:moveTo>
                  <a:lnTo>
                    <a:pt x="0" y="769620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769620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34924" y="1895855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4" h="769619">
                  <a:moveTo>
                    <a:pt x="0" y="0"/>
                  </a:moveTo>
                  <a:lnTo>
                    <a:pt x="64008" y="0"/>
                  </a:lnTo>
                  <a:lnTo>
                    <a:pt x="6400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06552" y="1935893"/>
            <a:ext cx="4733925" cy="65786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325"/>
              </a:spcBef>
            </a:pPr>
            <a:r>
              <a:rPr dirty="0" sz="1050" spc="40" b="1">
                <a:solidFill>
                  <a:srgbClr val="01A882"/>
                </a:solidFill>
                <a:latin typeface="Calibri"/>
                <a:cs typeface="Calibri"/>
              </a:rPr>
              <a:t>Backend</a:t>
            </a:r>
            <a:endParaRPr sz="10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  <a:spcBef>
                <a:spcPts val="30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FastAPI</a:t>
            </a:r>
            <a:r>
              <a:rPr dirty="0" sz="1250" spc="7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(Python)</a:t>
            </a:r>
            <a:endParaRPr sz="12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  <a:spcBef>
                <a:spcPts val="365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Async-first,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Pydantic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validation,</a:t>
            </a:r>
            <a:r>
              <a:rPr dirty="0" sz="11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auto OpenAPI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Calibri"/>
                <a:cs typeface="Calibri"/>
              </a:rPr>
              <a:t>docs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606796" y="1888235"/>
            <a:ext cx="4825365" cy="784860"/>
            <a:chOff x="5606796" y="1888235"/>
            <a:chExt cx="4825365" cy="784860"/>
          </a:xfrm>
        </p:grpSpPr>
        <p:sp>
          <p:nvSpPr>
            <p:cNvPr id="13" name="object 13" descr=""/>
            <p:cNvSpPr/>
            <p:nvPr/>
          </p:nvSpPr>
          <p:spPr>
            <a:xfrm>
              <a:off x="5614416" y="1895855"/>
              <a:ext cx="4811395" cy="769620"/>
            </a:xfrm>
            <a:custGeom>
              <a:avLst/>
              <a:gdLst/>
              <a:ahLst/>
              <a:cxnLst/>
              <a:rect l="l" t="t" r="r" b="b"/>
              <a:pathLst>
                <a:path w="4811395" h="769619">
                  <a:moveTo>
                    <a:pt x="0" y="0"/>
                  </a:moveTo>
                  <a:lnTo>
                    <a:pt x="4811268" y="0"/>
                  </a:lnTo>
                  <a:lnTo>
                    <a:pt x="481126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614416" y="1895855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5" h="769619">
                  <a:moveTo>
                    <a:pt x="64007" y="769620"/>
                  </a:moveTo>
                  <a:lnTo>
                    <a:pt x="0" y="769620"/>
                  </a:lnTo>
                  <a:lnTo>
                    <a:pt x="0" y="0"/>
                  </a:lnTo>
                  <a:lnTo>
                    <a:pt x="64007" y="0"/>
                  </a:lnTo>
                  <a:lnTo>
                    <a:pt x="64007" y="769620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614416" y="1895855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5" h="769619">
                  <a:moveTo>
                    <a:pt x="0" y="0"/>
                  </a:moveTo>
                  <a:lnTo>
                    <a:pt x="64007" y="0"/>
                  </a:lnTo>
                  <a:lnTo>
                    <a:pt x="64007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686043" y="1935893"/>
            <a:ext cx="4733925" cy="65786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325"/>
              </a:spcBef>
            </a:pPr>
            <a:r>
              <a:rPr dirty="0" sz="1050" b="1">
                <a:solidFill>
                  <a:srgbClr val="01A882"/>
                </a:solidFill>
                <a:latin typeface="Calibri"/>
                <a:cs typeface="Calibri"/>
              </a:rPr>
              <a:t>Event</a:t>
            </a:r>
            <a:r>
              <a:rPr dirty="0" sz="1050" spc="335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050" spc="-25" b="1">
                <a:solidFill>
                  <a:srgbClr val="01A882"/>
                </a:solidFill>
                <a:latin typeface="Calibri"/>
                <a:cs typeface="Calibri"/>
              </a:rPr>
              <a:t>Bus</a:t>
            </a:r>
            <a:endParaRPr sz="1050">
              <a:latin typeface="Calibri"/>
              <a:cs typeface="Calibri"/>
            </a:endParaRPr>
          </a:p>
          <a:p>
            <a:pPr marL="97155">
              <a:lnSpc>
                <a:spcPct val="100000"/>
              </a:lnSpc>
              <a:spcBef>
                <a:spcPts val="30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Apache</a:t>
            </a:r>
            <a:r>
              <a:rPr dirty="0" sz="1250" spc="8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Kafka</a:t>
            </a:r>
            <a:endParaRPr sz="1250">
              <a:latin typeface="Calibri"/>
              <a:cs typeface="Calibri"/>
            </a:endParaRPr>
          </a:p>
          <a:p>
            <a:pPr marL="97155">
              <a:lnSpc>
                <a:spcPct val="100000"/>
              </a:lnSpc>
              <a:spcBef>
                <a:spcPts val="365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Fault-tolerant</a:t>
            </a:r>
            <a:r>
              <a:rPr dirty="0" sz="11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request</a:t>
            </a:r>
            <a:r>
              <a:rPr dirty="0" sz="1100" spc="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buffering,</a:t>
            </a:r>
            <a:r>
              <a:rPr dirty="0" sz="1100" spc="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at-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least-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once</a:t>
            </a:r>
            <a:r>
              <a:rPr dirty="0" sz="11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delivery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27304" y="2764536"/>
            <a:ext cx="4825365" cy="786765"/>
            <a:chOff x="527304" y="2764536"/>
            <a:chExt cx="4825365" cy="786765"/>
          </a:xfrm>
        </p:grpSpPr>
        <p:sp>
          <p:nvSpPr>
            <p:cNvPr id="18" name="object 18" descr=""/>
            <p:cNvSpPr/>
            <p:nvPr/>
          </p:nvSpPr>
          <p:spPr>
            <a:xfrm>
              <a:off x="534924" y="2772156"/>
              <a:ext cx="4811395" cy="771525"/>
            </a:xfrm>
            <a:custGeom>
              <a:avLst/>
              <a:gdLst/>
              <a:ahLst/>
              <a:cxnLst/>
              <a:rect l="l" t="t" r="r" b="b"/>
              <a:pathLst>
                <a:path w="4811395" h="771525">
                  <a:moveTo>
                    <a:pt x="0" y="0"/>
                  </a:moveTo>
                  <a:lnTo>
                    <a:pt x="4811268" y="0"/>
                  </a:lnTo>
                  <a:lnTo>
                    <a:pt x="4811268" y="771143"/>
                  </a:lnTo>
                  <a:lnTo>
                    <a:pt x="0" y="771143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34924" y="2772156"/>
              <a:ext cx="64135" cy="771525"/>
            </a:xfrm>
            <a:custGeom>
              <a:avLst/>
              <a:gdLst/>
              <a:ahLst/>
              <a:cxnLst/>
              <a:rect l="l" t="t" r="r" b="b"/>
              <a:pathLst>
                <a:path w="64134" h="771525">
                  <a:moveTo>
                    <a:pt x="64008" y="771143"/>
                  </a:moveTo>
                  <a:lnTo>
                    <a:pt x="0" y="771143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771143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34924" y="2772156"/>
              <a:ext cx="64135" cy="771525"/>
            </a:xfrm>
            <a:custGeom>
              <a:avLst/>
              <a:gdLst/>
              <a:ahLst/>
              <a:cxnLst/>
              <a:rect l="l" t="t" r="r" b="b"/>
              <a:pathLst>
                <a:path w="64134" h="771525">
                  <a:moveTo>
                    <a:pt x="0" y="0"/>
                  </a:moveTo>
                  <a:lnTo>
                    <a:pt x="64008" y="0"/>
                  </a:lnTo>
                  <a:lnTo>
                    <a:pt x="64008" y="771143"/>
                  </a:lnTo>
                  <a:lnTo>
                    <a:pt x="0" y="771143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06552" y="2815010"/>
            <a:ext cx="4733925" cy="65532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315"/>
              </a:spcBef>
            </a:pPr>
            <a:r>
              <a:rPr dirty="0" sz="1050" b="1">
                <a:solidFill>
                  <a:srgbClr val="01A882"/>
                </a:solidFill>
                <a:latin typeface="Calibri"/>
                <a:cs typeface="Calibri"/>
              </a:rPr>
              <a:t>LLM</a:t>
            </a:r>
            <a:r>
              <a:rPr dirty="0" sz="1050" spc="210" b="1">
                <a:solidFill>
                  <a:srgbClr val="01A882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1A882"/>
                </a:solidFill>
                <a:latin typeface="Calibri"/>
                <a:cs typeface="Calibri"/>
              </a:rPr>
              <a:t>Engine</a:t>
            </a:r>
            <a:endParaRPr sz="10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  <a:spcBef>
                <a:spcPts val="290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Claude</a:t>
            </a:r>
            <a:r>
              <a:rPr dirty="0" sz="1250" spc="4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/</a:t>
            </a:r>
            <a:r>
              <a:rPr dirty="0" sz="1250" spc="7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Gemini</a:t>
            </a:r>
            <a:r>
              <a:rPr dirty="0" sz="1250" spc="7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/</a:t>
            </a:r>
            <a:r>
              <a:rPr dirty="0" sz="1250" spc="5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Llama</a:t>
            </a:r>
            <a:r>
              <a:rPr dirty="0" sz="1250" spc="6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50" b="1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  <a:spcBef>
                <a:spcPts val="370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Pluggable</a:t>
            </a:r>
            <a:r>
              <a:rPr dirty="0" sz="11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—</a:t>
            </a:r>
            <a:r>
              <a:rPr dirty="0" sz="1100" spc="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swap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config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change.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527304" y="3642360"/>
            <a:ext cx="4825365" cy="784860"/>
            <a:chOff x="527304" y="3642360"/>
            <a:chExt cx="4825365" cy="784860"/>
          </a:xfrm>
        </p:grpSpPr>
        <p:sp>
          <p:nvSpPr>
            <p:cNvPr id="23" name="object 23" descr=""/>
            <p:cNvSpPr/>
            <p:nvPr/>
          </p:nvSpPr>
          <p:spPr>
            <a:xfrm>
              <a:off x="534924" y="3649980"/>
              <a:ext cx="4811395" cy="769620"/>
            </a:xfrm>
            <a:custGeom>
              <a:avLst/>
              <a:gdLst/>
              <a:ahLst/>
              <a:cxnLst/>
              <a:rect l="l" t="t" r="r" b="b"/>
              <a:pathLst>
                <a:path w="4811395" h="769620">
                  <a:moveTo>
                    <a:pt x="0" y="0"/>
                  </a:moveTo>
                  <a:lnTo>
                    <a:pt x="4811268" y="0"/>
                  </a:lnTo>
                  <a:lnTo>
                    <a:pt x="4811268" y="769619"/>
                  </a:lnTo>
                  <a:lnTo>
                    <a:pt x="0" y="76961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34924" y="3649980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4" h="769620">
                  <a:moveTo>
                    <a:pt x="64008" y="769619"/>
                  </a:moveTo>
                  <a:lnTo>
                    <a:pt x="0" y="769619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769619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34924" y="3649980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4" h="769620">
                  <a:moveTo>
                    <a:pt x="0" y="0"/>
                  </a:moveTo>
                  <a:lnTo>
                    <a:pt x="64008" y="0"/>
                  </a:lnTo>
                  <a:lnTo>
                    <a:pt x="64008" y="769619"/>
                  </a:lnTo>
                  <a:lnTo>
                    <a:pt x="0" y="76961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06552" y="3691317"/>
            <a:ext cx="4733925" cy="65659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315"/>
              </a:spcBef>
            </a:pPr>
            <a:r>
              <a:rPr dirty="0" sz="1050" spc="-10" b="1">
                <a:solidFill>
                  <a:srgbClr val="01A882"/>
                </a:solidFill>
                <a:latin typeface="Calibri"/>
                <a:cs typeface="Calibri"/>
              </a:rPr>
              <a:t>Cache</a:t>
            </a:r>
            <a:endParaRPr sz="10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  <a:spcBef>
                <a:spcPts val="290"/>
              </a:spcBef>
            </a:pP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Redis</a:t>
            </a:r>
            <a:endParaRPr sz="12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  <a:spcBef>
                <a:spcPts val="380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Prevents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redundant</a:t>
            </a:r>
            <a:r>
              <a:rPr dirty="0" sz="11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API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calls,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rate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 limiting.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606796" y="2764536"/>
            <a:ext cx="4889500" cy="786765"/>
            <a:chOff x="5606796" y="2764536"/>
            <a:chExt cx="4889500" cy="786765"/>
          </a:xfrm>
        </p:grpSpPr>
        <p:sp>
          <p:nvSpPr>
            <p:cNvPr id="28" name="object 28" descr=""/>
            <p:cNvSpPr/>
            <p:nvPr/>
          </p:nvSpPr>
          <p:spPr>
            <a:xfrm>
              <a:off x="5678423" y="2781300"/>
              <a:ext cx="4811395" cy="762000"/>
            </a:xfrm>
            <a:custGeom>
              <a:avLst/>
              <a:gdLst/>
              <a:ahLst/>
              <a:cxnLst/>
              <a:rect l="l" t="t" r="r" b="b"/>
              <a:pathLst>
                <a:path w="4811395" h="762000">
                  <a:moveTo>
                    <a:pt x="0" y="0"/>
                  </a:moveTo>
                  <a:lnTo>
                    <a:pt x="4811268" y="0"/>
                  </a:lnTo>
                  <a:lnTo>
                    <a:pt x="4811268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614416" y="2772156"/>
              <a:ext cx="64135" cy="771525"/>
            </a:xfrm>
            <a:custGeom>
              <a:avLst/>
              <a:gdLst/>
              <a:ahLst/>
              <a:cxnLst/>
              <a:rect l="l" t="t" r="r" b="b"/>
              <a:pathLst>
                <a:path w="64135" h="771525">
                  <a:moveTo>
                    <a:pt x="64007" y="771143"/>
                  </a:moveTo>
                  <a:lnTo>
                    <a:pt x="0" y="771143"/>
                  </a:lnTo>
                  <a:lnTo>
                    <a:pt x="0" y="0"/>
                  </a:lnTo>
                  <a:lnTo>
                    <a:pt x="64007" y="0"/>
                  </a:lnTo>
                  <a:lnTo>
                    <a:pt x="64007" y="771143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614416" y="2772156"/>
              <a:ext cx="64135" cy="771525"/>
            </a:xfrm>
            <a:custGeom>
              <a:avLst/>
              <a:gdLst/>
              <a:ahLst/>
              <a:cxnLst/>
              <a:rect l="l" t="t" r="r" b="b"/>
              <a:pathLst>
                <a:path w="64135" h="771525">
                  <a:moveTo>
                    <a:pt x="0" y="0"/>
                  </a:moveTo>
                  <a:lnTo>
                    <a:pt x="64007" y="0"/>
                  </a:lnTo>
                  <a:lnTo>
                    <a:pt x="64007" y="771143"/>
                  </a:lnTo>
                  <a:lnTo>
                    <a:pt x="0" y="771143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5686043" y="2730657"/>
            <a:ext cx="4798060" cy="74866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630"/>
              </a:spcBef>
            </a:pPr>
            <a:r>
              <a:rPr dirty="0" sz="1050" spc="35" b="1">
                <a:solidFill>
                  <a:srgbClr val="01A882"/>
                </a:solidFill>
                <a:latin typeface="Calibri"/>
                <a:cs typeface="Calibri"/>
              </a:rPr>
              <a:t>Database</a:t>
            </a:r>
            <a:endParaRPr sz="1050">
              <a:latin typeface="Calibri"/>
              <a:cs typeface="Calibri"/>
            </a:endParaRPr>
          </a:p>
          <a:p>
            <a:pPr marL="97155">
              <a:lnSpc>
                <a:spcPct val="100000"/>
              </a:lnSpc>
              <a:spcBef>
                <a:spcPts val="675"/>
              </a:spcBef>
            </a:pP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PostgreSQL</a:t>
            </a:r>
            <a:endParaRPr sz="1250">
              <a:latin typeface="Calibri"/>
              <a:cs typeface="Calibri"/>
            </a:endParaRPr>
          </a:p>
          <a:p>
            <a:pPr marL="97155">
              <a:lnSpc>
                <a:spcPct val="100000"/>
              </a:lnSpc>
              <a:spcBef>
                <a:spcPts val="405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State</a:t>
            </a:r>
            <a:r>
              <a:rPr dirty="0" sz="11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&amp;</a:t>
            </a:r>
            <a:r>
              <a:rPr dirty="0" sz="110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metadata</a:t>
            </a:r>
            <a:r>
              <a:rPr dirty="0" sz="1100" spc="-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only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—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dirty="0" sz="110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roles,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CMDB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registry,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pipeline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recovery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527304" y="4518660"/>
            <a:ext cx="4825365" cy="784860"/>
            <a:chOff x="527304" y="4518660"/>
            <a:chExt cx="4825365" cy="784860"/>
          </a:xfrm>
        </p:grpSpPr>
        <p:sp>
          <p:nvSpPr>
            <p:cNvPr id="33" name="object 33" descr=""/>
            <p:cNvSpPr/>
            <p:nvPr/>
          </p:nvSpPr>
          <p:spPr>
            <a:xfrm>
              <a:off x="534924" y="4526280"/>
              <a:ext cx="4811395" cy="769620"/>
            </a:xfrm>
            <a:custGeom>
              <a:avLst/>
              <a:gdLst/>
              <a:ahLst/>
              <a:cxnLst/>
              <a:rect l="l" t="t" r="r" b="b"/>
              <a:pathLst>
                <a:path w="4811395" h="769620">
                  <a:moveTo>
                    <a:pt x="0" y="0"/>
                  </a:moveTo>
                  <a:lnTo>
                    <a:pt x="4811268" y="0"/>
                  </a:lnTo>
                  <a:lnTo>
                    <a:pt x="4811268" y="769619"/>
                  </a:lnTo>
                  <a:lnTo>
                    <a:pt x="0" y="76961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34924" y="4526280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4" h="769620">
                  <a:moveTo>
                    <a:pt x="64008" y="769619"/>
                  </a:moveTo>
                  <a:lnTo>
                    <a:pt x="0" y="769619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769619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34924" y="4526280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4" h="769620">
                  <a:moveTo>
                    <a:pt x="0" y="0"/>
                  </a:moveTo>
                  <a:lnTo>
                    <a:pt x="64008" y="0"/>
                  </a:lnTo>
                  <a:lnTo>
                    <a:pt x="64008" y="769619"/>
                  </a:lnTo>
                  <a:lnTo>
                    <a:pt x="0" y="76961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606552" y="4566290"/>
            <a:ext cx="4733925" cy="65786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325"/>
              </a:spcBef>
            </a:pPr>
            <a:r>
              <a:rPr dirty="0" sz="1050" spc="40" b="1">
                <a:solidFill>
                  <a:srgbClr val="01A882"/>
                </a:solidFill>
                <a:latin typeface="Calibri"/>
                <a:cs typeface="Calibri"/>
              </a:rPr>
              <a:t>Security</a:t>
            </a:r>
            <a:endParaRPr sz="10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  <a:spcBef>
                <a:spcPts val="30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JWT</a:t>
            </a:r>
            <a:r>
              <a:rPr dirty="0" sz="1250" spc="6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+</a:t>
            </a:r>
            <a:r>
              <a:rPr dirty="0" sz="1250" spc="5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Token</a:t>
            </a:r>
            <a:r>
              <a:rPr dirty="0" sz="1250" spc="3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A1A1A"/>
                </a:solidFill>
                <a:latin typeface="Calibri"/>
                <a:cs typeface="Calibri"/>
              </a:rPr>
              <a:t>Vault</a:t>
            </a:r>
            <a:endParaRPr sz="12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  <a:spcBef>
                <a:spcPts val="365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Zero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hardcoded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credentials.</a:t>
            </a:r>
            <a:r>
              <a:rPr dirty="0" sz="11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API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keys</a:t>
            </a:r>
            <a:r>
              <a:rPr dirty="0" sz="1100" spc="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fetched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runtime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 only.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5599176" y="3675888"/>
            <a:ext cx="4832985" cy="784860"/>
            <a:chOff x="5599176" y="3675888"/>
            <a:chExt cx="4832985" cy="784860"/>
          </a:xfrm>
        </p:grpSpPr>
        <p:sp>
          <p:nvSpPr>
            <p:cNvPr id="38" name="object 38" descr=""/>
            <p:cNvSpPr/>
            <p:nvPr/>
          </p:nvSpPr>
          <p:spPr>
            <a:xfrm>
              <a:off x="5614415" y="3692651"/>
              <a:ext cx="4811395" cy="734695"/>
            </a:xfrm>
            <a:custGeom>
              <a:avLst/>
              <a:gdLst/>
              <a:ahLst/>
              <a:cxnLst/>
              <a:rect l="l" t="t" r="r" b="b"/>
              <a:pathLst>
                <a:path w="4811395" h="734695">
                  <a:moveTo>
                    <a:pt x="0" y="0"/>
                  </a:moveTo>
                  <a:lnTo>
                    <a:pt x="4811268" y="0"/>
                  </a:lnTo>
                  <a:lnTo>
                    <a:pt x="4811268" y="734567"/>
                  </a:lnTo>
                  <a:lnTo>
                    <a:pt x="0" y="734567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606796" y="3683508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5" h="769620">
                  <a:moveTo>
                    <a:pt x="64007" y="769619"/>
                  </a:moveTo>
                  <a:lnTo>
                    <a:pt x="0" y="769619"/>
                  </a:lnTo>
                  <a:lnTo>
                    <a:pt x="0" y="0"/>
                  </a:lnTo>
                  <a:lnTo>
                    <a:pt x="64007" y="0"/>
                  </a:lnTo>
                  <a:lnTo>
                    <a:pt x="64007" y="769619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606796" y="3683508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5" h="769620">
                  <a:moveTo>
                    <a:pt x="0" y="0"/>
                  </a:moveTo>
                  <a:lnTo>
                    <a:pt x="64007" y="0"/>
                  </a:lnTo>
                  <a:lnTo>
                    <a:pt x="64007" y="769619"/>
                  </a:lnTo>
                  <a:lnTo>
                    <a:pt x="0" y="76961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5678423" y="3654479"/>
            <a:ext cx="4741545" cy="72898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04775">
              <a:lnSpc>
                <a:spcPct val="100000"/>
              </a:lnSpc>
              <a:spcBef>
                <a:spcPts val="475"/>
              </a:spcBef>
            </a:pPr>
            <a:r>
              <a:rPr dirty="0" sz="1050" spc="35" b="1">
                <a:solidFill>
                  <a:srgbClr val="01A882"/>
                </a:solidFill>
                <a:latin typeface="Calibri"/>
                <a:cs typeface="Calibri"/>
              </a:rPr>
              <a:t>Frontend</a:t>
            </a:r>
            <a:endParaRPr sz="1050">
              <a:latin typeface="Calibri"/>
              <a:cs typeface="Calibri"/>
            </a:endParaRPr>
          </a:p>
          <a:p>
            <a:pPr marL="104775">
              <a:lnSpc>
                <a:spcPct val="100000"/>
              </a:lnSpc>
              <a:spcBef>
                <a:spcPts val="480"/>
              </a:spcBef>
            </a:pP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WebSocket</a:t>
            </a:r>
            <a:endParaRPr sz="1250">
              <a:latin typeface="Calibri"/>
              <a:cs typeface="Calibri"/>
            </a:endParaRPr>
          </a:p>
          <a:p>
            <a:pPr marL="104775">
              <a:lnSpc>
                <a:spcPct val="100000"/>
              </a:lnSpc>
              <a:spcBef>
                <a:spcPts val="595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Auto-discover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bug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list,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real-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time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progressive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panel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loading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527304" y="5394960"/>
            <a:ext cx="4825365" cy="784860"/>
            <a:chOff x="527304" y="5394960"/>
            <a:chExt cx="4825365" cy="784860"/>
          </a:xfrm>
        </p:grpSpPr>
        <p:sp>
          <p:nvSpPr>
            <p:cNvPr id="43" name="object 43" descr=""/>
            <p:cNvSpPr/>
            <p:nvPr/>
          </p:nvSpPr>
          <p:spPr>
            <a:xfrm>
              <a:off x="534924" y="5402580"/>
              <a:ext cx="4811395" cy="769620"/>
            </a:xfrm>
            <a:custGeom>
              <a:avLst/>
              <a:gdLst/>
              <a:ahLst/>
              <a:cxnLst/>
              <a:rect l="l" t="t" r="r" b="b"/>
              <a:pathLst>
                <a:path w="4811395" h="769620">
                  <a:moveTo>
                    <a:pt x="0" y="0"/>
                  </a:moveTo>
                  <a:lnTo>
                    <a:pt x="4811268" y="0"/>
                  </a:lnTo>
                  <a:lnTo>
                    <a:pt x="4811268" y="769619"/>
                  </a:lnTo>
                  <a:lnTo>
                    <a:pt x="0" y="76961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34924" y="5402580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4" h="769620">
                  <a:moveTo>
                    <a:pt x="64008" y="769619"/>
                  </a:moveTo>
                  <a:lnTo>
                    <a:pt x="0" y="769619"/>
                  </a:lnTo>
                  <a:lnTo>
                    <a:pt x="0" y="0"/>
                  </a:lnTo>
                  <a:lnTo>
                    <a:pt x="64008" y="0"/>
                  </a:lnTo>
                  <a:lnTo>
                    <a:pt x="64008" y="769619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34924" y="5402580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4" h="769620">
                  <a:moveTo>
                    <a:pt x="0" y="0"/>
                  </a:moveTo>
                  <a:lnTo>
                    <a:pt x="64008" y="0"/>
                  </a:lnTo>
                  <a:lnTo>
                    <a:pt x="64008" y="769619"/>
                  </a:lnTo>
                  <a:lnTo>
                    <a:pt x="0" y="76961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606552" y="5442663"/>
            <a:ext cx="4733925" cy="65786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325"/>
              </a:spcBef>
            </a:pPr>
            <a:r>
              <a:rPr dirty="0" sz="1050" spc="40" b="1">
                <a:solidFill>
                  <a:srgbClr val="01A882"/>
                </a:solidFill>
                <a:latin typeface="Calibri"/>
                <a:cs typeface="Calibri"/>
              </a:rPr>
              <a:t>Containers</a:t>
            </a:r>
            <a:endParaRPr sz="10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  <a:spcBef>
                <a:spcPts val="30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Docker</a:t>
            </a:r>
            <a:r>
              <a:rPr dirty="0" sz="1250" spc="3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+</a:t>
            </a:r>
            <a:r>
              <a:rPr dirty="0" sz="1250" spc="6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Docker</a:t>
            </a:r>
            <a:r>
              <a:rPr dirty="0" sz="1250" spc="5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Compose</a:t>
            </a:r>
            <a:endParaRPr sz="12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  <a:spcBef>
                <a:spcPts val="365"/>
              </a:spcBef>
            </a:pP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agent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runs</a:t>
            </a:r>
            <a:r>
              <a:rPr dirty="0" sz="1100" spc="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independently.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One command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starts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everything.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5606796" y="4572000"/>
            <a:ext cx="4849495" cy="784860"/>
            <a:chOff x="5606796" y="4572000"/>
            <a:chExt cx="4849495" cy="784860"/>
          </a:xfrm>
        </p:grpSpPr>
        <p:sp>
          <p:nvSpPr>
            <p:cNvPr id="48" name="object 48" descr=""/>
            <p:cNvSpPr/>
            <p:nvPr/>
          </p:nvSpPr>
          <p:spPr>
            <a:xfrm>
              <a:off x="5638800" y="4579620"/>
              <a:ext cx="4811395" cy="769620"/>
            </a:xfrm>
            <a:custGeom>
              <a:avLst/>
              <a:gdLst/>
              <a:ahLst/>
              <a:cxnLst/>
              <a:rect l="l" t="t" r="r" b="b"/>
              <a:pathLst>
                <a:path w="4811395" h="769620">
                  <a:moveTo>
                    <a:pt x="0" y="0"/>
                  </a:moveTo>
                  <a:lnTo>
                    <a:pt x="4811267" y="0"/>
                  </a:lnTo>
                  <a:lnTo>
                    <a:pt x="4811267" y="769619"/>
                  </a:lnTo>
                  <a:lnTo>
                    <a:pt x="0" y="769619"/>
                  </a:lnTo>
                  <a:lnTo>
                    <a:pt x="0" y="0"/>
                  </a:lnTo>
                  <a:close/>
                </a:path>
              </a:pathLst>
            </a:custGeom>
            <a:ln w="12191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614416" y="4579620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5" h="769620">
                  <a:moveTo>
                    <a:pt x="64007" y="769619"/>
                  </a:moveTo>
                  <a:lnTo>
                    <a:pt x="0" y="769619"/>
                  </a:lnTo>
                  <a:lnTo>
                    <a:pt x="0" y="0"/>
                  </a:lnTo>
                  <a:lnTo>
                    <a:pt x="64007" y="0"/>
                  </a:lnTo>
                  <a:lnTo>
                    <a:pt x="64007" y="769619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614416" y="4579620"/>
              <a:ext cx="64135" cy="769620"/>
            </a:xfrm>
            <a:custGeom>
              <a:avLst/>
              <a:gdLst/>
              <a:ahLst/>
              <a:cxnLst/>
              <a:rect l="l" t="t" r="r" b="b"/>
              <a:pathLst>
                <a:path w="64135" h="769620">
                  <a:moveTo>
                    <a:pt x="0" y="0"/>
                  </a:moveTo>
                  <a:lnTo>
                    <a:pt x="64007" y="0"/>
                  </a:lnTo>
                  <a:lnTo>
                    <a:pt x="64007" y="769619"/>
                  </a:lnTo>
                  <a:lnTo>
                    <a:pt x="0" y="76961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5686043" y="4534733"/>
            <a:ext cx="4758055" cy="76263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560"/>
              </a:spcBef>
            </a:pPr>
            <a:r>
              <a:rPr dirty="0" sz="1050" spc="35" b="1">
                <a:solidFill>
                  <a:srgbClr val="01A882"/>
                </a:solidFill>
                <a:latin typeface="Calibri"/>
                <a:cs typeface="Calibri"/>
              </a:rPr>
              <a:t>External</a:t>
            </a:r>
            <a:endParaRPr sz="1050">
              <a:latin typeface="Calibri"/>
              <a:cs typeface="Calibri"/>
            </a:endParaRPr>
          </a:p>
          <a:p>
            <a:pPr marL="97155">
              <a:lnSpc>
                <a:spcPct val="100000"/>
              </a:lnSpc>
              <a:spcBef>
                <a:spcPts val="59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JIRA</a:t>
            </a:r>
            <a:r>
              <a:rPr dirty="0" sz="1250" spc="4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·</a:t>
            </a:r>
            <a:r>
              <a:rPr dirty="0" sz="1250" spc="6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Bugzilla</a:t>
            </a:r>
            <a:r>
              <a:rPr dirty="0" sz="1250" spc="6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·</a:t>
            </a:r>
            <a:r>
              <a:rPr dirty="0" sz="1250" spc="6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GitHub</a:t>
            </a:r>
            <a:r>
              <a:rPr dirty="0" sz="1250" spc="8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·</a:t>
            </a:r>
            <a:r>
              <a:rPr dirty="0" sz="1250" spc="3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Confluence</a:t>
            </a:r>
            <a:r>
              <a:rPr dirty="0" sz="1250" spc="6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·</a:t>
            </a:r>
            <a:r>
              <a:rPr dirty="0" sz="1250" spc="5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Customer</a:t>
            </a:r>
            <a:r>
              <a:rPr dirty="0" sz="1250" spc="5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Portal</a:t>
            </a:r>
            <a:endParaRPr sz="1250">
              <a:latin typeface="Calibri"/>
              <a:cs typeface="Calibri"/>
            </a:endParaRPr>
          </a:p>
          <a:p>
            <a:pPr marL="97155">
              <a:lnSpc>
                <a:spcPct val="100000"/>
              </a:lnSpc>
              <a:spcBef>
                <a:spcPts val="665"/>
              </a:spcBef>
            </a:pP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Read-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only</a:t>
            </a:r>
            <a:r>
              <a:rPr dirty="0" sz="11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via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MCP.</a:t>
            </a:r>
            <a:r>
              <a:rPr dirty="0" sz="11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r>
              <a:rPr dirty="0" sz="11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stays</a:t>
            </a:r>
            <a:r>
              <a:rPr dirty="0" sz="11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source</a:t>
            </a:r>
            <a:r>
              <a:rPr dirty="0" sz="11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dirty="0" sz="110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95959"/>
                </a:solidFill>
                <a:latin typeface="Calibri"/>
                <a:cs typeface="Calibri"/>
              </a:rPr>
              <a:t>—</a:t>
            </a:r>
            <a:r>
              <a:rPr dirty="0" sz="1100" spc="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Calibri"/>
                <a:cs typeface="Calibri"/>
              </a:rPr>
              <a:t>always.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Next</a:t>
            </a:r>
            <a:r>
              <a:rPr dirty="0" spc="-50"/>
              <a:t> </a:t>
            </a:r>
            <a:r>
              <a:rPr dirty="0"/>
              <a:t>Steps</a:t>
            </a:r>
            <a:r>
              <a:rPr dirty="0" spc="-30"/>
              <a:t> </a:t>
            </a:r>
            <a:r>
              <a:rPr dirty="0"/>
              <a:t>—</a:t>
            </a:r>
            <a:r>
              <a:rPr dirty="0" spc="-45"/>
              <a:t> </a:t>
            </a:r>
            <a:r>
              <a:rPr dirty="0"/>
              <a:t>Moving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 spc="-10"/>
              <a:t>Implementation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27304" y="1600200"/>
            <a:ext cx="9638030" cy="38100"/>
            <a:chOff x="527304" y="1600200"/>
            <a:chExt cx="9638030" cy="38100"/>
          </a:xfrm>
        </p:grpSpPr>
        <p:sp>
          <p:nvSpPr>
            <p:cNvPr id="4" name="object 4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9622536" y="22859"/>
                  </a:moveTo>
                  <a:lnTo>
                    <a:pt x="0" y="22859"/>
                  </a:lnTo>
                  <a:lnTo>
                    <a:pt x="0" y="0"/>
                  </a:lnTo>
                  <a:lnTo>
                    <a:pt x="9622536" y="0"/>
                  </a:lnTo>
                  <a:lnTo>
                    <a:pt x="9622536" y="22859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34924" y="1607820"/>
              <a:ext cx="9622790" cy="22860"/>
            </a:xfrm>
            <a:custGeom>
              <a:avLst/>
              <a:gdLst/>
              <a:ahLst/>
              <a:cxnLst/>
              <a:rect l="l" t="t" r="r" b="b"/>
              <a:pathLst>
                <a:path w="9622790" h="22860">
                  <a:moveTo>
                    <a:pt x="0" y="0"/>
                  </a:moveTo>
                  <a:lnTo>
                    <a:pt x="9622536" y="0"/>
                  </a:lnTo>
                  <a:lnTo>
                    <a:pt x="9622536" y="22859"/>
                  </a:lnTo>
                  <a:lnTo>
                    <a:pt x="0" y="2285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3608" y="6284321"/>
            <a:ext cx="776429" cy="14176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534923" y="1895855"/>
            <a:ext cx="4811395" cy="1818639"/>
          </a:xfrm>
          <a:custGeom>
            <a:avLst/>
            <a:gdLst/>
            <a:ahLst/>
            <a:cxnLst/>
            <a:rect l="l" t="t" r="r" b="b"/>
            <a:pathLst>
              <a:path w="4811395" h="1818639">
                <a:moveTo>
                  <a:pt x="0" y="0"/>
                </a:moveTo>
                <a:lnTo>
                  <a:pt x="4811268" y="0"/>
                </a:lnTo>
                <a:lnTo>
                  <a:pt x="4811268" y="1818132"/>
                </a:lnTo>
                <a:lnTo>
                  <a:pt x="0" y="1818132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E4E6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34923" y="1895855"/>
            <a:ext cx="695325" cy="1818639"/>
          </a:xfrm>
          <a:prstGeom prst="rect">
            <a:avLst/>
          </a:prstGeom>
          <a:solidFill>
            <a:srgbClr val="E8F7F2"/>
          </a:solidFill>
          <a:ln w="15239">
            <a:solidFill>
              <a:srgbClr val="E4E6E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100">
              <a:latin typeface="Times New Roman"/>
              <a:cs typeface="Times New Roman"/>
            </a:endParaRPr>
          </a:p>
          <a:p>
            <a:pPr marL="211454">
              <a:lnSpc>
                <a:spcPct val="100000"/>
              </a:lnSpc>
            </a:pPr>
            <a:r>
              <a:rPr dirty="0" sz="2100" spc="-25" b="1">
                <a:solidFill>
                  <a:srgbClr val="01A882"/>
                </a:solidFill>
                <a:latin typeface="Calibri"/>
                <a:cs typeface="Calibri"/>
              </a:rPr>
              <a:t>01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68539" y="2085904"/>
            <a:ext cx="194310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50" b="1">
                <a:solidFill>
                  <a:srgbClr val="1A1A1A"/>
                </a:solidFill>
                <a:latin typeface="Calibri"/>
                <a:cs typeface="Calibri"/>
              </a:rPr>
              <a:t>Sequence</a:t>
            </a:r>
            <a:r>
              <a:rPr dirty="0" sz="1850" spc="40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50" spc="-10" b="1">
                <a:solidFill>
                  <a:srgbClr val="1A1A1A"/>
                </a:solidFill>
                <a:latin typeface="Calibri"/>
                <a:cs typeface="Calibri"/>
              </a:rPr>
              <a:t>Diagrams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68568" y="2826476"/>
            <a:ext cx="3862070" cy="668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400"/>
              </a:lnSpc>
              <a:spcBef>
                <a:spcPts val="95"/>
              </a:spcBef>
            </a:pP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Create</a:t>
            </a:r>
            <a:r>
              <a:rPr dirty="0" sz="1400" spc="-5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detailed</a:t>
            </a:r>
            <a:r>
              <a:rPr dirty="0" sz="1400" spc="-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sequence</a:t>
            </a:r>
            <a:r>
              <a:rPr dirty="0" sz="1400" spc="-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diagrams</a:t>
            </a:r>
            <a:r>
              <a:rPr dirty="0" sz="1400" spc="-5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dirty="0" sz="1400" spc="-6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two</a:t>
            </a:r>
            <a:r>
              <a:rPr dirty="0" sz="1400" spc="5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workflows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—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new bug</a:t>
            </a:r>
            <a:r>
              <a:rPr dirty="0" sz="1400" spc="-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triage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incremental</a:t>
            </a:r>
            <a:r>
              <a:rPr dirty="0" sz="14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change detection.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614415" y="1895855"/>
            <a:ext cx="4811395" cy="1818639"/>
          </a:xfrm>
          <a:custGeom>
            <a:avLst/>
            <a:gdLst/>
            <a:ahLst/>
            <a:cxnLst/>
            <a:rect l="l" t="t" r="r" b="b"/>
            <a:pathLst>
              <a:path w="4811395" h="1818639">
                <a:moveTo>
                  <a:pt x="0" y="0"/>
                </a:moveTo>
                <a:lnTo>
                  <a:pt x="4811268" y="0"/>
                </a:lnTo>
                <a:lnTo>
                  <a:pt x="4811268" y="1818132"/>
                </a:lnTo>
                <a:lnTo>
                  <a:pt x="0" y="1818132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E4E6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614415" y="1895855"/>
            <a:ext cx="706120" cy="1818639"/>
          </a:xfrm>
          <a:prstGeom prst="rect">
            <a:avLst/>
          </a:prstGeom>
          <a:solidFill>
            <a:srgbClr val="E8F7F2"/>
          </a:solidFill>
          <a:ln w="15240">
            <a:solidFill>
              <a:srgbClr val="E4E6E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2100">
              <a:latin typeface="Times New Roman"/>
              <a:cs typeface="Times New Roman"/>
            </a:endParaRPr>
          </a:p>
          <a:p>
            <a:pPr marL="211454">
              <a:lnSpc>
                <a:spcPct val="100000"/>
              </a:lnSpc>
            </a:pPr>
            <a:r>
              <a:rPr dirty="0" sz="2100" spc="-25" b="1">
                <a:solidFill>
                  <a:srgbClr val="01A882"/>
                </a:solidFill>
                <a:latin typeface="Calibri"/>
                <a:cs typeface="Calibri"/>
              </a:rPr>
              <a:t>02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46494" y="2066054"/>
            <a:ext cx="179705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50" b="1">
                <a:solidFill>
                  <a:srgbClr val="1A1A1A"/>
                </a:solidFill>
                <a:latin typeface="Calibri"/>
                <a:cs typeface="Calibri"/>
              </a:rPr>
              <a:t>UI</a:t>
            </a:r>
            <a:r>
              <a:rPr dirty="0" sz="1850" spc="4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50" spc="-10" b="1">
                <a:solidFill>
                  <a:srgbClr val="1A1A1A"/>
                </a:solidFill>
                <a:latin typeface="Calibri"/>
                <a:cs typeface="Calibri"/>
              </a:rPr>
              <a:t>Auto-Discovery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46534" y="2761003"/>
            <a:ext cx="3818254" cy="668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299"/>
              </a:lnSpc>
              <a:spcBef>
                <a:spcPts val="95"/>
              </a:spcBef>
            </a:pP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Redesign</a:t>
            </a:r>
            <a:r>
              <a:rPr dirty="0" sz="1400" spc="-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homepage —</a:t>
            </a:r>
            <a:r>
              <a:rPr dirty="0" sz="1400" spc="-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remove manual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Bug</a:t>
            </a:r>
            <a:r>
              <a:rPr dirty="0" sz="1400" spc="-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ID</a:t>
            </a:r>
            <a:r>
              <a:rPr dirty="0" sz="14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entry. Auto-discover</a:t>
            </a:r>
            <a:r>
              <a:rPr dirty="0" sz="14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bugs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dirty="0" sz="1400" spc="-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connected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 systems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and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display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dirty="0" sz="14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a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filterable</a:t>
            </a:r>
            <a:r>
              <a:rPr dirty="0" sz="14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list</a:t>
            </a:r>
            <a:r>
              <a:rPr dirty="0" sz="14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 dashboard.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34923" y="3959352"/>
            <a:ext cx="4811395" cy="1946275"/>
          </a:xfrm>
          <a:custGeom>
            <a:avLst/>
            <a:gdLst/>
            <a:ahLst/>
            <a:cxnLst/>
            <a:rect l="l" t="t" r="r" b="b"/>
            <a:pathLst>
              <a:path w="4811395" h="1946275">
                <a:moveTo>
                  <a:pt x="0" y="0"/>
                </a:moveTo>
                <a:lnTo>
                  <a:pt x="4811268" y="0"/>
                </a:lnTo>
                <a:lnTo>
                  <a:pt x="4811268" y="1946148"/>
                </a:lnTo>
                <a:lnTo>
                  <a:pt x="0" y="1946148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E4E6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534923" y="3959352"/>
            <a:ext cx="695325" cy="1946275"/>
          </a:xfrm>
          <a:prstGeom prst="rect">
            <a:avLst/>
          </a:prstGeom>
          <a:solidFill>
            <a:srgbClr val="E8F7F2"/>
          </a:solidFill>
          <a:ln w="15239">
            <a:solidFill>
              <a:srgbClr val="E4E6E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2100">
              <a:latin typeface="Times New Roman"/>
              <a:cs typeface="Times New Roman"/>
            </a:endParaRPr>
          </a:p>
          <a:p>
            <a:pPr marL="211454">
              <a:lnSpc>
                <a:spcPct val="100000"/>
              </a:lnSpc>
              <a:spcBef>
                <a:spcPts val="5"/>
              </a:spcBef>
            </a:pPr>
            <a:r>
              <a:rPr dirty="0" sz="2100" spc="-25" b="1">
                <a:solidFill>
                  <a:srgbClr val="01A882"/>
                </a:solidFill>
                <a:latin typeface="Calibri"/>
                <a:cs typeface="Calibri"/>
              </a:rPr>
              <a:t>03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68539" y="4153979"/>
            <a:ext cx="140970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50" b="1">
                <a:solidFill>
                  <a:srgbClr val="1A1A1A"/>
                </a:solidFill>
                <a:latin typeface="Calibri"/>
                <a:cs typeface="Calibri"/>
              </a:rPr>
              <a:t>LLM </a:t>
            </a:r>
            <a:r>
              <a:rPr dirty="0" sz="1850" spc="-10" b="1">
                <a:solidFill>
                  <a:srgbClr val="1A1A1A"/>
                </a:solidFill>
                <a:latin typeface="Calibri"/>
                <a:cs typeface="Calibri"/>
              </a:rPr>
              <a:t>Similarity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68568" y="4815380"/>
            <a:ext cx="3727450" cy="668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299"/>
              </a:lnSpc>
              <a:spcBef>
                <a:spcPts val="95"/>
              </a:spcBef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Enhance</a:t>
            </a:r>
            <a:r>
              <a:rPr dirty="0" sz="1400" spc="-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matching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use</a:t>
            </a:r>
            <a:r>
              <a:rPr dirty="0" sz="1400" spc="-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LLM</a:t>
            </a:r>
            <a:r>
              <a:rPr dirty="0" sz="1400" spc="-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reasoning</a:t>
            </a:r>
            <a:r>
              <a:rPr dirty="0" sz="1400" spc="-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across</a:t>
            </a:r>
            <a:r>
              <a:rPr dirty="0" sz="14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bug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title,</a:t>
            </a:r>
            <a:r>
              <a:rPr dirty="0" sz="1400" spc="-5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description,</a:t>
            </a:r>
            <a:r>
              <a:rPr dirty="0" sz="1400" spc="-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logs,</a:t>
            </a:r>
            <a:r>
              <a:rPr dirty="0" sz="1400" spc="-5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timestamps,</a:t>
            </a:r>
            <a:r>
              <a:rPr dirty="0" sz="14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crash</a:t>
            </a:r>
            <a:r>
              <a:rPr dirty="0" sz="1400" spc="-6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dumps,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dirty="0" sz="1400" spc="-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engineer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comments</a:t>
            </a:r>
            <a:r>
              <a:rPr dirty="0" sz="1400" spc="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—</a:t>
            </a:r>
            <a:r>
              <a:rPr dirty="0" sz="1400" spc="-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not</a:t>
            </a:r>
            <a:r>
              <a:rPr dirty="0" sz="14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dirty="0" sz="1400" spc="-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keywords.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614415" y="3959352"/>
            <a:ext cx="4811395" cy="1946275"/>
          </a:xfrm>
          <a:custGeom>
            <a:avLst/>
            <a:gdLst/>
            <a:ahLst/>
            <a:cxnLst/>
            <a:rect l="l" t="t" r="r" b="b"/>
            <a:pathLst>
              <a:path w="4811395" h="1946275">
                <a:moveTo>
                  <a:pt x="0" y="0"/>
                </a:moveTo>
                <a:lnTo>
                  <a:pt x="4811268" y="0"/>
                </a:lnTo>
                <a:lnTo>
                  <a:pt x="4811268" y="1946148"/>
                </a:lnTo>
                <a:lnTo>
                  <a:pt x="0" y="1946148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E4E6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5614415" y="3959352"/>
            <a:ext cx="706120" cy="1946275"/>
          </a:xfrm>
          <a:prstGeom prst="rect">
            <a:avLst/>
          </a:prstGeom>
          <a:solidFill>
            <a:srgbClr val="E8F7F2"/>
          </a:solidFill>
          <a:ln w="15240">
            <a:solidFill>
              <a:srgbClr val="E4E6E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2100">
              <a:latin typeface="Times New Roman"/>
              <a:cs typeface="Times New Roman"/>
            </a:endParaRPr>
          </a:p>
          <a:p>
            <a:pPr marL="211454">
              <a:lnSpc>
                <a:spcPct val="100000"/>
              </a:lnSpc>
              <a:spcBef>
                <a:spcPts val="5"/>
              </a:spcBef>
            </a:pPr>
            <a:r>
              <a:rPr dirty="0" sz="2100" spc="-25" b="1">
                <a:solidFill>
                  <a:srgbClr val="01A882"/>
                </a:solidFill>
                <a:latin typeface="Calibri"/>
                <a:cs typeface="Calibri"/>
              </a:rPr>
              <a:t>04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446494" y="4114277"/>
            <a:ext cx="1951355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50" spc="-30" b="1">
                <a:solidFill>
                  <a:srgbClr val="1A1A1A"/>
                </a:solidFill>
                <a:latin typeface="Calibri"/>
                <a:cs typeface="Calibri"/>
              </a:rPr>
              <a:t>Token </a:t>
            </a:r>
            <a:r>
              <a:rPr dirty="0" sz="1850" b="1">
                <a:solidFill>
                  <a:srgbClr val="1A1A1A"/>
                </a:solidFill>
                <a:latin typeface="Calibri"/>
                <a:cs typeface="Calibri"/>
              </a:rPr>
              <a:t>Settings</a:t>
            </a:r>
            <a:r>
              <a:rPr dirty="0" sz="1850" spc="-25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50" spc="-20" b="1">
                <a:solidFill>
                  <a:srgbClr val="1A1A1A"/>
                </a:solidFill>
                <a:latin typeface="Calibri"/>
                <a:cs typeface="Calibri"/>
              </a:rPr>
              <a:t>Page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446534" y="4851947"/>
            <a:ext cx="3613785" cy="668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R="5080">
              <a:lnSpc>
                <a:spcPct val="100299"/>
              </a:lnSpc>
              <a:spcBef>
                <a:spcPts val="95"/>
              </a:spcBef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Build</a:t>
            </a:r>
            <a:r>
              <a:rPr dirty="0" sz="1400" spc="-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settings</a:t>
            </a:r>
            <a:r>
              <a:rPr dirty="0" sz="14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interface</a:t>
            </a:r>
            <a:r>
              <a:rPr dirty="0" sz="14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dirty="0" sz="1400" spc="-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engineers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 configure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base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URLs,</a:t>
            </a:r>
            <a:r>
              <a:rPr dirty="0" sz="14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port</a:t>
            </a:r>
            <a:r>
              <a:rPr dirty="0" sz="1400" spc="-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numbers,</a:t>
            </a:r>
            <a:r>
              <a:rPr dirty="0" sz="14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API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tokens</a:t>
            </a:r>
            <a:r>
              <a:rPr dirty="0" sz="14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dirty="0" sz="1400" spc="-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Calibri"/>
                <a:cs typeface="Calibri"/>
              </a:rPr>
              <a:t>each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connected</a:t>
            </a:r>
            <a:r>
              <a:rPr dirty="0" sz="1400" spc="-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bug</a:t>
            </a:r>
            <a:r>
              <a:rPr dirty="0" sz="1400" spc="-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tracking</a:t>
            </a:r>
            <a:r>
              <a:rPr dirty="0" sz="1400" spc="-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52062" y="1200434"/>
            <a:ext cx="1150620" cy="41783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85"/>
              </a:spcBef>
            </a:pPr>
            <a:r>
              <a:rPr dirty="0" sz="1250" b="1">
                <a:solidFill>
                  <a:srgbClr val="1A1A1A"/>
                </a:solidFill>
                <a:latin typeface="Calibri"/>
                <a:cs typeface="Calibri"/>
              </a:rPr>
              <a:t>Hewlett</a:t>
            </a:r>
            <a:r>
              <a:rPr dirty="0" sz="1250" spc="114" b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1A1A"/>
                </a:solidFill>
                <a:latin typeface="Calibri"/>
                <a:cs typeface="Calibri"/>
              </a:rPr>
              <a:t>Packard Enterprise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50"/>
              <a:t>Thank</a:t>
            </a:r>
            <a:r>
              <a:rPr dirty="0" sz="6550" spc="-60"/>
              <a:t> </a:t>
            </a:r>
            <a:r>
              <a:rPr dirty="0" sz="6550" spc="-480"/>
              <a:t>Y</a:t>
            </a:r>
            <a:r>
              <a:rPr dirty="0" sz="6550" spc="-10"/>
              <a:t>o</a:t>
            </a:r>
            <a:r>
              <a:rPr dirty="0" sz="6550" spc="45"/>
              <a:t>u</a:t>
            </a:r>
            <a:endParaRPr sz="6550"/>
          </a:p>
        </p:txBody>
      </p:sp>
      <p:grpSp>
        <p:nvGrpSpPr>
          <p:cNvPr id="4" name="object 4" descr=""/>
          <p:cNvGrpSpPr/>
          <p:nvPr/>
        </p:nvGrpSpPr>
        <p:grpSpPr>
          <a:xfrm>
            <a:off x="3735323" y="4165091"/>
            <a:ext cx="3223260" cy="59690"/>
            <a:chOff x="3735323" y="4165091"/>
            <a:chExt cx="3223260" cy="59690"/>
          </a:xfrm>
        </p:grpSpPr>
        <p:sp>
          <p:nvSpPr>
            <p:cNvPr id="5" name="object 5" descr=""/>
            <p:cNvSpPr/>
            <p:nvPr/>
          </p:nvSpPr>
          <p:spPr>
            <a:xfrm>
              <a:off x="3742943" y="4172711"/>
              <a:ext cx="3208020" cy="44450"/>
            </a:xfrm>
            <a:custGeom>
              <a:avLst/>
              <a:gdLst/>
              <a:ahLst/>
              <a:cxnLst/>
              <a:rect l="l" t="t" r="r" b="b"/>
              <a:pathLst>
                <a:path w="3208020" h="44450">
                  <a:moveTo>
                    <a:pt x="32080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3208020" y="0"/>
                  </a:lnTo>
                  <a:lnTo>
                    <a:pt x="3208020" y="44196"/>
                  </a:lnTo>
                  <a:close/>
                </a:path>
              </a:pathLst>
            </a:custGeom>
            <a:solidFill>
              <a:srgbClr val="01A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742943" y="4172711"/>
              <a:ext cx="3208020" cy="44450"/>
            </a:xfrm>
            <a:custGeom>
              <a:avLst/>
              <a:gdLst/>
              <a:ahLst/>
              <a:cxnLst/>
              <a:rect l="l" t="t" r="r" b="b"/>
              <a:pathLst>
                <a:path w="3208020" h="44450">
                  <a:moveTo>
                    <a:pt x="0" y="0"/>
                  </a:moveTo>
                  <a:lnTo>
                    <a:pt x="3208020" y="0"/>
                  </a:lnTo>
                  <a:lnTo>
                    <a:pt x="3208020" y="44196"/>
                  </a:lnTo>
                  <a:lnTo>
                    <a:pt x="0" y="44196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1A8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481811" y="4409920"/>
            <a:ext cx="37318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595959"/>
                </a:solidFill>
                <a:latin typeface="Calibri"/>
                <a:cs typeface="Calibri"/>
              </a:rPr>
              <a:t>Agentic</a:t>
            </a:r>
            <a:r>
              <a:rPr dirty="0" sz="1400" spc="-3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95959"/>
                </a:solidFill>
                <a:latin typeface="Calibri"/>
                <a:cs typeface="Calibri"/>
              </a:rPr>
              <a:t>Bug</a:t>
            </a:r>
            <a:r>
              <a:rPr dirty="0" sz="1400" spc="-2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595959"/>
                </a:solidFill>
                <a:latin typeface="Calibri"/>
                <a:cs typeface="Calibri"/>
              </a:rPr>
              <a:t>Triage</a:t>
            </a:r>
            <a:r>
              <a:rPr dirty="0" sz="1400" spc="-2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95959"/>
                </a:solidFill>
                <a:latin typeface="Calibri"/>
                <a:cs typeface="Calibri"/>
              </a:rPr>
              <a:t>&amp;</a:t>
            </a:r>
            <a:r>
              <a:rPr dirty="0" sz="1400" spc="-2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595959"/>
                </a:solidFill>
                <a:latin typeface="Calibri"/>
                <a:cs typeface="Calibri"/>
              </a:rPr>
              <a:t>Routing</a:t>
            </a:r>
            <a:r>
              <a:rPr dirty="0" sz="1400" spc="-5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dirty="0" sz="1400" spc="25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95959"/>
                </a:solidFill>
                <a:latin typeface="Calibri"/>
                <a:cs typeface="Calibri"/>
              </a:rPr>
              <a:t>·</a:t>
            </a:r>
            <a:r>
              <a:rPr dirty="0" sz="1400" spc="270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95959"/>
                </a:solidFill>
                <a:latin typeface="Calibri"/>
                <a:cs typeface="Calibri"/>
              </a:rPr>
              <a:t>Mid</a:t>
            </a:r>
            <a:r>
              <a:rPr dirty="0" sz="1400" spc="-25" i="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595959"/>
                </a:solidFill>
                <a:latin typeface="Calibri"/>
                <a:cs typeface="Calibri"/>
              </a:rPr>
              <a:t>Review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3608" y="6284321"/>
            <a:ext cx="776429" cy="14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 jain</dc:creator>
  <dc:title>Microsoft PowerPoint - mid_review (2)</dc:title>
  <dcterms:created xsi:type="dcterms:W3CDTF">2026-05-18T15:42:53Z</dcterms:created>
  <dcterms:modified xsi:type="dcterms:W3CDTF">2026-05-18T15:42:53Z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2026-05-18T00:00:00Z</vt:filetime>
  </property>
  <property fmtid="{D5CDD505-2E9C-101B-9397-08002B2CF9AE}" pid="3" name="LastSaved">
    <vt:filetime>2026-05-18T00:00:00Z</vt:filetime>
  </property>
  <property fmtid="{D5CDD505-2E9C-101B-9397-08002B2CF9AE}" pid="4" name="Producer">
    <vt:lpwstr>Microsoft: Print To PDF</vt:lpwstr>
  </property>
</Properties>
</file>